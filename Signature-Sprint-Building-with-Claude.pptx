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206240" y="0"/>
            <a:ext cx="73152" cy="6858000"/>
          </a:xfrm>
          <a:prstGeom prst="rect">
            <a:avLst/>
          </a:prstGeom>
          <a:solidFill>
            <a:srgbClr val="3BD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FFFFFF"/>
                </a:solidFill>
                <a:latin typeface="Calibri"/>
              </a:rPr>
              <a:t>hy</a:t>
            </a:r>
            <a:r>
              <a:rPr sz="4800" b="1">
                <a:solidFill>
                  <a:srgbClr val="3BD4E7"/>
                </a:solidFill>
                <a:latin typeface="Calibri"/>
              </a:rPr>
              <a:t>reo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3BD4E7"/>
                </a:solidFill>
                <a:latin typeface="Calibri"/>
              </a:rPr>
              <a:t>Hyreo Labs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6035040"/>
            <a:ext cx="109728" cy="109728"/>
          </a:xfrm>
          <a:prstGeom prst="ellipse">
            <a:avLst/>
          </a:prstGeom>
          <a:solidFill>
            <a:srgbClr val="3BD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31520" y="6035040"/>
            <a:ext cx="109728" cy="109728"/>
          </a:xfrm>
          <a:prstGeom prst="ellipse">
            <a:avLst/>
          </a:prstGeom>
          <a:solidFill>
            <a:srgbClr val="4B5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60120" y="6035040"/>
            <a:ext cx="109728" cy="109728"/>
          </a:xfrm>
          <a:prstGeom prst="ellipse">
            <a:avLst/>
          </a:prstGeom>
          <a:solidFill>
            <a:srgbClr val="33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63093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9FB2C9"/>
                </a:solidFill>
                <a:latin typeface="Calibri"/>
              </a:rPr>
              <a:t>Internal  · 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3716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3BD4E7"/>
                </a:solidFill>
                <a:latin typeface="Calibri"/>
              </a:rPr>
              <a:t>INTERNAL TEAM PRESENTATION  ·  APRIL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874519"/>
            <a:ext cx="73152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>
                <a:solidFill>
                  <a:srgbClr val="1E2A3D"/>
                </a:solidFill>
                <a:latin typeface="Calibri"/>
              </a:rPr>
              <a:t>Building with Claude.ai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880360"/>
            <a:ext cx="7315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>
                <a:solidFill>
                  <a:srgbClr val="64748B"/>
                </a:solidFill>
                <a:latin typeface="Calibri"/>
              </a:rPr>
              <a:t>Effort, scalability, and a path forward for the
Signature Sprint POC and beyond.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4297680"/>
            <a:ext cx="6949440" cy="9525"/>
          </a:xfrm>
          <a:prstGeom prst="rect">
            <a:avLst/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0" y="443484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64748B"/>
                </a:solidFill>
                <a:latin typeface="Calibri"/>
              </a:rPr>
              <a:t>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4348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F2A37"/>
                </a:solidFill>
                <a:latin typeface="Calibri"/>
              </a:rPr>
              <a:t>Signature Sprint  ·  v2.7  ·  POC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81888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64748B"/>
                </a:solidFill>
                <a:latin typeface="Calibri"/>
              </a:rPr>
              <a:t>PREPARED BY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18888"/>
            <a:ext cx="5486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0" i="0" dirty="0">
                <a:solidFill>
                  <a:srgbClr val="1F2A37"/>
                </a:solidFill>
                <a:latin typeface="Calibri"/>
              </a:rPr>
              <a:t>Varun Raj V</a:t>
            </a:r>
            <a:endParaRPr sz="1200" b="0" i="0" dirty="0">
              <a:solidFill>
                <a:srgbClr val="1F2A37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572000" y="520293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64748B"/>
                </a:solidFill>
                <a:latin typeface="Calibri"/>
              </a:rPr>
              <a:t>AUDIENCE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520293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F2A37"/>
                </a:solidFill>
                <a:latin typeface="Calibri"/>
              </a:rPr>
              <a:t>Hyreo internal team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5586983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64748B"/>
                </a:solidFill>
                <a:latin typeface="Calibri"/>
              </a:rPr>
              <a:t>FOCUS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586983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F2A37"/>
                </a:solidFill>
                <a:latin typeface="Calibri"/>
              </a:rPr>
              <a:t>Effort comparison · BMAD vs CCPM · Onboarding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Hyreo Labs  ·  hyreo.com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828800" cy="45720"/>
          </a:xfrm>
          <a:prstGeom prst="rect">
            <a:avLst/>
          </a:prstGeom>
          <a:solidFill>
            <a:srgbClr val="3BD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20095" y="292608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1">
                <a:solidFill>
                  <a:srgbClr val="1E2A3D"/>
                </a:solidFill>
                <a:latin typeface="Calibri"/>
              </a:rPr>
              <a:t>hy</a:t>
            </a:r>
            <a:r>
              <a:rPr sz="1600" b="1">
                <a:solidFill>
                  <a:srgbClr val="3BD4E7"/>
                </a:solidFill>
                <a:latin typeface="Calibri"/>
              </a:rPr>
              <a:t>reo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3BD4E7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E2A3D"/>
                </a:solidFill>
                <a:latin typeface="Calibri"/>
              </a:rPr>
              <a:t>What we'll cover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07008"/>
            <a:ext cx="11155680" cy="9525"/>
          </a:xfrm>
          <a:prstGeom prst="rect">
            <a:avLst/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02 /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A3D"/>
                </a:solidFill>
                <a:latin typeface="Calibri"/>
              </a:rPr>
              <a:t>01.  The 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463040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Where Signature Sprint started and the constraints we worked under.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938528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A3D"/>
                </a:solidFill>
                <a:latin typeface="Calibri"/>
              </a:rPr>
              <a:t>02.  How Claude.ai helped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938528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The role it played across planning, building, and writing.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414016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A3D"/>
                </a:solidFill>
                <a:latin typeface="Calibri"/>
              </a:rPr>
              <a:t>03.  Effort comparison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414016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Defensible estimates: with AI vs without AI, by phase.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889504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A3D"/>
                </a:solidFill>
                <a:latin typeface="Calibri"/>
              </a:rPr>
              <a:t>04.  What scaled — and what didn't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889504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Honest read on where the leverage came from.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364992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A3D"/>
                </a:solidFill>
                <a:latin typeface="Calibri"/>
              </a:rPr>
              <a:t>05.  Applicability to the project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3364992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Concrete next features to ship with the same workflow.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84048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A3D"/>
                </a:solidFill>
                <a:latin typeface="Calibri"/>
              </a:rPr>
              <a:t>06.  Method: BMAD vs CCPM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3840480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Side-by-side comparison.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315968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A3D"/>
                </a:solidFill>
                <a:latin typeface="Calibri"/>
              </a:rPr>
              <a:t>07.  Recommendation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4315968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Why CCPM fits Signature Sprint right now.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791456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A3D"/>
                </a:solidFill>
                <a:latin typeface="Calibri"/>
              </a:rPr>
              <a:t>08.  Onboarding a new developer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4791456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Day 1 / Week 1 / Month 1 with CCPM.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266944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A3D"/>
                </a:solidFill>
                <a:latin typeface="Calibri"/>
              </a:rPr>
              <a:t>09.  Risks, guardrails, roadmap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5266944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What to watch for; what comes next.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Hyreo Labs  ·  Internal  ·  Building with Claude.ai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828800" cy="45720"/>
          </a:xfrm>
          <a:prstGeom prst="rect">
            <a:avLst/>
          </a:prstGeom>
          <a:solidFill>
            <a:srgbClr val="3BD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20095" y="292608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1">
                <a:solidFill>
                  <a:srgbClr val="1E2A3D"/>
                </a:solidFill>
                <a:latin typeface="Calibri"/>
              </a:rPr>
              <a:t>hy</a:t>
            </a:r>
            <a:r>
              <a:rPr sz="1600" b="1">
                <a:solidFill>
                  <a:srgbClr val="3BD4E7"/>
                </a:solidFill>
                <a:latin typeface="Calibri"/>
              </a:rPr>
              <a:t>reo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3BD4E7"/>
                </a:solidFill>
                <a:latin typeface="Calibri"/>
              </a:rPr>
              <a:t>01  · 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E2A3D"/>
                </a:solidFill>
                <a:latin typeface="Calibri"/>
              </a:rPr>
              <a:t>The challenge we set ourselves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07008"/>
            <a:ext cx="11155680" cy="9525"/>
          </a:xfrm>
          <a:prstGeom prst="rect">
            <a:avLst/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03 /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111556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1F2A37"/>
                </a:solidFill>
                <a:latin typeface="Calibri"/>
              </a:rPr>
              <a:t>Build an end-to-end behavioral assessment POC — two themed UIs, a four-level scoring engine, a manager dashboard, and a full </a:t>
            </a:r>
            <a:r>
              <a:rPr sz="1600" b="1" i="0">
                <a:solidFill>
                  <a:srgbClr val="1E2A3D"/>
                </a:solidFill>
                <a:latin typeface="Calibri"/>
              </a:rPr>
              <a:t>anti-faking</a:t>
            </a:r>
            <a:r>
              <a:rPr sz="1600" b="0" i="0">
                <a:solidFill>
                  <a:srgbClr val="1F2A37"/>
                </a:solidFill>
                <a:latin typeface="Calibri"/>
              </a:rPr>
              <a:t> validation layer — fast enough to put in front of evaluators in weeks, not quarters.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10896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5F9FC"/>
          </a:solidFill>
          <a:ln w="9525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77240" y="3337560"/>
            <a:ext cx="164592" cy="164592"/>
          </a:xfrm>
          <a:prstGeom prst="rect">
            <a:avLst/>
          </a:prstGeom>
          <a:solidFill>
            <a:srgbClr val="3BD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1560" y="3273552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E2A3D"/>
                </a:solidFill>
                <a:latin typeface="Calibri"/>
              </a:rPr>
              <a:t>Time pressure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886200"/>
            <a:ext cx="3154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F2A37"/>
                </a:solidFill>
                <a:latin typeface="Calibri"/>
              </a:rPr>
              <a:t>Single sprint to demo; multi-week budget, not multi-quarter.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5112" y="310896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5F9FC"/>
          </a:solidFill>
          <a:ln w="9525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53712" y="3337560"/>
            <a:ext cx="164592" cy="164592"/>
          </a:xfrm>
          <a:prstGeom prst="rect">
            <a:avLst/>
          </a:prstGeom>
          <a:solidFill>
            <a:srgbClr val="3BD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28032" y="3273552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E2A3D"/>
                </a:solidFill>
                <a:latin typeface="Calibri"/>
              </a:rPr>
              <a:t>Small team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712" y="3886200"/>
            <a:ext cx="3154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F2A37"/>
                </a:solidFill>
                <a:latin typeface="Calibri"/>
              </a:rPr>
              <a:t>Effectively one engineer carrying frontend, scoring, and docs.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01584" y="310896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5F9FC"/>
          </a:solidFill>
          <a:ln w="9525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330184" y="3337560"/>
            <a:ext cx="164592" cy="164592"/>
          </a:xfrm>
          <a:prstGeom prst="rect">
            <a:avLst/>
          </a:prstGeom>
          <a:solidFill>
            <a:srgbClr val="3BD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04504" y="3273552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E2A3D"/>
                </a:solidFill>
                <a:latin typeface="Calibri"/>
              </a:rPr>
              <a:t>Quality bar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0184" y="3886200"/>
            <a:ext cx="3154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F2A37"/>
                </a:solidFill>
                <a:latin typeface="Calibri"/>
              </a:rPr>
              <a:t>Has to look and feel like a Hyreo product, not a prototype.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212080"/>
            <a:ext cx="11155680" cy="914400"/>
          </a:xfrm>
          <a:prstGeom prst="roundRect">
            <a:avLst>
              <a:gd name="adj" fmla="val 18000"/>
            </a:avLst>
          </a:prstGeom>
          <a:solidFill>
            <a:srgbClr val="E8FAFD"/>
          </a:solidFill>
          <a:ln w="9525">
            <a:solidFill>
              <a:srgbClr val="3BD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5349240"/>
            <a:ext cx="10789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E2A3D"/>
                </a:solidFill>
                <a:latin typeface="Calibri"/>
              </a:rPr>
              <a:t>Outcome.  </a:t>
            </a:r>
            <a:r>
              <a:rPr sz="1300" b="0" i="0">
                <a:solidFill>
                  <a:srgbClr val="1F2A37"/>
                </a:solidFill>
                <a:latin typeface="Calibri"/>
              </a:rPr>
              <a:t>v2.7 ships with both themes, a working scoring engine with validation flags, full PRD/User-Guide/Report-Reference docs, and a print-ready manager report — running in any modern browser without a backend.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Hyreo Labs  ·  Internal  ·  Building with Claude.ai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828800" cy="45720"/>
          </a:xfrm>
          <a:prstGeom prst="rect">
            <a:avLst/>
          </a:prstGeom>
          <a:solidFill>
            <a:srgbClr val="3BD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20095" y="292608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1">
                <a:solidFill>
                  <a:srgbClr val="1E2A3D"/>
                </a:solidFill>
                <a:latin typeface="Calibri"/>
              </a:rPr>
              <a:t>hy</a:t>
            </a:r>
            <a:r>
              <a:rPr sz="1600" b="1">
                <a:solidFill>
                  <a:srgbClr val="3BD4E7"/>
                </a:solidFill>
                <a:latin typeface="Calibri"/>
              </a:rPr>
              <a:t>reo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3BD4E7"/>
                </a:solidFill>
                <a:latin typeface="Calibri"/>
              </a:rPr>
              <a:t>02  · 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E2A3D"/>
                </a:solidFill>
                <a:latin typeface="Calibri"/>
              </a:rPr>
              <a:t>Claude.ai as a development partner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07008"/>
            <a:ext cx="11155680" cy="9525"/>
          </a:xfrm>
          <a:prstGeom prst="rect">
            <a:avLst/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04 /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Five concrete roles Claude played across the build.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20240"/>
            <a:ext cx="548640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1920240"/>
            <a:ext cx="109728" cy="1417320"/>
          </a:xfrm>
          <a:prstGeom prst="rect">
            <a:avLst/>
          </a:prstGeom>
          <a:solidFill>
            <a:srgbClr val="3BD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2084832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E2A3D"/>
                </a:solidFill>
                <a:latin typeface="Calibri"/>
              </a:rPr>
              <a:t>Architect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468880"/>
            <a:ext cx="50292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F2A37"/>
                </a:solidFill>
                <a:latin typeface="Calibri"/>
              </a:rPr>
              <a:t>Mapped competency framework → dimensions → BARS → scoring formula in one pass.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920240"/>
            <a:ext cx="548640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55080" y="1920240"/>
            <a:ext cx="109728" cy="1417320"/>
          </a:xfrm>
          <a:prstGeom prst="rect">
            <a:avLst/>
          </a:prstGeom>
          <a:solidFill>
            <a:srgbClr val="3BD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29400" y="2084832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E2A3D"/>
                </a:solidFill>
                <a:latin typeface="Calibri"/>
              </a:rPr>
              <a:t>Pair coder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2468880"/>
            <a:ext cx="50292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F2A37"/>
                </a:solidFill>
                <a:latin typeface="Calibri"/>
              </a:rPr>
              <a:t>Wrote the scoring engine, both UI themes, and the manager dashboard alongside us.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474720"/>
            <a:ext cx="548640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48640" y="3474720"/>
            <a:ext cx="109728" cy="1417320"/>
          </a:xfrm>
          <a:prstGeom prst="rect">
            <a:avLst/>
          </a:prstGeom>
          <a:solidFill>
            <a:srgbClr val="3BD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3639312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E2A3D"/>
                </a:solidFill>
                <a:latin typeface="Calibri"/>
              </a:rPr>
              <a:t>Refactor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023360"/>
            <a:ext cx="50292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F2A37"/>
                </a:solidFill>
                <a:latin typeface="Calibri"/>
              </a:rPr>
              <a:t>Renamed Catalyst Protocol → Signature Sprint cleanly without breaking internals.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3474720"/>
            <a:ext cx="548640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55080" y="3474720"/>
            <a:ext cx="109728" cy="1417320"/>
          </a:xfrm>
          <a:prstGeom prst="rect">
            <a:avLst/>
          </a:prstGeom>
          <a:solidFill>
            <a:srgbClr val="3BD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29400" y="3639312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E2A3D"/>
                </a:solidFill>
                <a:latin typeface="Calibri"/>
              </a:rPr>
              <a:t>Doc writer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4023360"/>
            <a:ext cx="50292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F2A37"/>
                </a:solidFill>
                <a:latin typeface="Calibri"/>
              </a:rPr>
              <a:t>Produced PRODUCT-DOC, USER-GUIDE, REPORT-REFERENCE in a consistent voice.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029200"/>
            <a:ext cx="548640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48640" y="5029200"/>
            <a:ext cx="109728" cy="1417320"/>
          </a:xfrm>
          <a:prstGeom prst="rect">
            <a:avLst/>
          </a:prstGeom>
          <a:solidFill>
            <a:srgbClr val="3BD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" y="5193792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E2A3D"/>
                </a:solidFill>
                <a:latin typeface="Calibri"/>
              </a:rPr>
              <a:t>Reviewer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577840"/>
            <a:ext cx="50292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F2A37"/>
                </a:solidFill>
                <a:latin typeface="Calibri"/>
              </a:rPr>
              <a:t>Caught regressions when L2 rules and skipped-question logic changed in v2.7.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55080" y="5029200"/>
            <a:ext cx="5486400" cy="1417320"/>
          </a:xfrm>
          <a:prstGeom prst="roundRect">
            <a:avLst>
              <a:gd name="adj" fmla="val 10000"/>
            </a:avLst>
          </a:prstGeom>
          <a:solidFill>
            <a:srgbClr val="1E2A3D"/>
          </a:solidFill>
          <a:ln w="9525">
            <a:solidFill>
              <a:srgbClr val="1E2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29400" y="516636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3BD4E7"/>
                </a:solidFill>
                <a:latin typeface="Calibri"/>
              </a:rPr>
              <a:t>The shift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5532120"/>
            <a:ext cx="5029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Calibri"/>
              </a:rPr>
              <a:t>Claude moved us from "engineer drafts everything" to "engineer reviews, decides, and merges."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Hyreo Labs  ·  Internal  ·  Building with Claude.ai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828800" cy="45720"/>
          </a:xfrm>
          <a:prstGeom prst="rect">
            <a:avLst/>
          </a:prstGeom>
          <a:solidFill>
            <a:srgbClr val="3BD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20095" y="292608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1">
                <a:solidFill>
                  <a:srgbClr val="1E2A3D"/>
                </a:solidFill>
                <a:latin typeface="Calibri"/>
              </a:rPr>
              <a:t>hy</a:t>
            </a:r>
            <a:r>
              <a:rPr sz="1600" b="1">
                <a:solidFill>
                  <a:srgbClr val="3BD4E7"/>
                </a:solidFill>
                <a:latin typeface="Calibri"/>
              </a:rPr>
              <a:t>reo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3BD4E7"/>
                </a:solidFill>
                <a:latin typeface="Calibri"/>
              </a:rPr>
              <a:t>03  ·  EFFORT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E2A3D"/>
                </a:solidFill>
                <a:latin typeface="Calibri"/>
              </a:rPr>
              <a:t>With AI vs without AI — by phase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07008"/>
            <a:ext cx="11155680" cy="9525"/>
          </a:xfrm>
          <a:prstGeom prst="rect">
            <a:avLst/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05 /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Calibri"/>
              </a:rPr>
              <a:t>Numbers below are </a:t>
            </a:r>
            <a:r>
              <a:rPr sz="1100" b="1" i="1">
                <a:solidFill>
                  <a:srgbClr val="1E2A3D"/>
                </a:solidFill>
                <a:latin typeface="Calibri"/>
              </a:rPr>
              <a:t>defensible estimates</a:t>
            </a:r>
            <a:r>
              <a:rPr sz="1100" b="0" i="1">
                <a:solidFill>
                  <a:srgbClr val="64748B"/>
                </a:solidFill>
                <a:latin typeface="Calibri"/>
              </a:rPr>
              <a:t> (calibrated against this build, not stopwatch-measured). Use as order-of-magnitude, not exact.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783080"/>
          <a:ext cx="111556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9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2385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Phase</a:t>
                      </a:r>
                    </a:p>
                  </a:txBody>
                  <a:tcPr anchor="ctr">
                    <a:solidFill>
                      <a:srgbClr val="1E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Without AI</a:t>
                      </a:r>
                    </a:p>
                  </a:txBody>
                  <a:tcPr anchor="ctr">
                    <a:solidFill>
                      <a:srgbClr val="1E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With Claude.ai</a:t>
                      </a:r>
                    </a:p>
                  </a:txBody>
                  <a:tcPr anchor="ctr">
                    <a:solidFill>
                      <a:srgbClr val="1E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Speed-up</a:t>
                      </a:r>
                    </a:p>
                  </a:txBody>
                  <a:tcPr anchor="ctr">
                    <a:solidFill>
                      <a:srgbClr val="1E2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238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A37"/>
                          </a:solidFill>
                          <a:latin typeface="Calibri"/>
                        </a:rPr>
                        <a:t>Discovery &amp; competency framework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A37"/>
                          </a:solidFill>
                          <a:latin typeface="Calibri"/>
                        </a:rPr>
                        <a:t>3–4 days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A37"/>
                          </a:solidFill>
                          <a:latin typeface="Calibri"/>
                        </a:rPr>
                        <a:t>0.5 day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A37"/>
                          </a:solidFill>
                          <a:latin typeface="Calibri"/>
                        </a:rPr>
                        <a:t>≈ 6×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238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A37"/>
                          </a:solidFill>
                          <a:latin typeface="Calibri"/>
                        </a:rPr>
                        <a:t>Scenario design (4 levels, ~21 items)</a:t>
                      </a:r>
                    </a:p>
                  </a:txBody>
                  <a:tcPr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A37"/>
                          </a:solidFill>
                          <a:latin typeface="Calibri"/>
                        </a:rPr>
                        <a:t>5–7 days</a:t>
                      </a:r>
                    </a:p>
                  </a:txBody>
                  <a:tcPr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A37"/>
                          </a:solidFill>
                          <a:latin typeface="Calibri"/>
                        </a:rPr>
                        <a:t>1.5 days</a:t>
                      </a:r>
                    </a:p>
                  </a:txBody>
                  <a:tcPr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A37"/>
                          </a:solidFill>
                          <a:latin typeface="Calibri"/>
                        </a:rPr>
                        <a:t>≈ 4×</a:t>
                      </a:r>
                    </a:p>
                  </a:txBody>
                  <a:tcPr anchor="ctr"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238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A37"/>
                          </a:solidFill>
                          <a:latin typeface="Calibri"/>
                        </a:rPr>
                        <a:t>Scoring engine + BARS mapping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A37"/>
                          </a:solidFill>
                          <a:latin typeface="Calibri"/>
                        </a:rPr>
                        <a:t>4–5 days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A37"/>
                          </a:solidFill>
                          <a:latin typeface="Calibri"/>
                        </a:rPr>
                        <a:t>1 day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A37"/>
                          </a:solidFill>
                          <a:latin typeface="Calibri"/>
                        </a:rPr>
                        <a:t>≈ 4×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238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A37"/>
                          </a:solidFill>
                          <a:latin typeface="Calibri"/>
                        </a:rPr>
                        <a:t>Adventure UI (Theme 1)</a:t>
                      </a:r>
                    </a:p>
                  </a:txBody>
                  <a:tcPr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A37"/>
                          </a:solidFill>
                          <a:latin typeface="Calibri"/>
                        </a:rPr>
                        <a:t>5–6 days</a:t>
                      </a:r>
                    </a:p>
                  </a:txBody>
                  <a:tcPr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A37"/>
                          </a:solidFill>
                          <a:latin typeface="Calibri"/>
                        </a:rPr>
                        <a:t>1.5 days</a:t>
                      </a:r>
                    </a:p>
                  </a:txBody>
                  <a:tcPr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A37"/>
                          </a:solidFill>
                          <a:latin typeface="Calibri"/>
                        </a:rPr>
                        <a:t>≈ 4×</a:t>
                      </a:r>
                    </a:p>
                  </a:txBody>
                  <a:tcPr anchor="ctr"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238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A37"/>
                          </a:solidFill>
                          <a:latin typeface="Calibri"/>
                        </a:rPr>
                        <a:t>Mission Control UI (Theme 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A37"/>
                          </a:solidFill>
                          <a:latin typeface="Calibri"/>
                        </a:rPr>
                        <a:t>4–5 days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A37"/>
                          </a:solidFill>
                          <a:latin typeface="Calibri"/>
                        </a:rPr>
                        <a:t>1 day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A37"/>
                          </a:solidFill>
                          <a:latin typeface="Calibri"/>
                        </a:rPr>
                        <a:t>≈ 4×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238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A37"/>
                          </a:solidFill>
                          <a:latin typeface="Calibri"/>
                        </a:rPr>
                        <a:t>Manager dashboard + report</a:t>
                      </a:r>
                    </a:p>
                  </a:txBody>
                  <a:tcPr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A37"/>
                          </a:solidFill>
                          <a:latin typeface="Calibri"/>
                        </a:rPr>
                        <a:t>3–4 days</a:t>
                      </a:r>
                    </a:p>
                  </a:txBody>
                  <a:tcPr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A37"/>
                          </a:solidFill>
                          <a:latin typeface="Calibri"/>
                        </a:rPr>
                        <a:t>1 day</a:t>
                      </a:r>
                    </a:p>
                  </a:txBody>
                  <a:tcPr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A37"/>
                          </a:solidFill>
                          <a:latin typeface="Calibri"/>
                        </a:rPr>
                        <a:t>≈ 3–4×</a:t>
                      </a:r>
                    </a:p>
                  </a:txBody>
                  <a:tcPr anchor="ctr"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238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A37"/>
                          </a:solidFill>
                          <a:latin typeface="Calibri"/>
                        </a:rPr>
                        <a:t>Anti-faking validation flags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A37"/>
                          </a:solidFill>
                          <a:latin typeface="Calibri"/>
                        </a:rPr>
                        <a:t>3 days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A37"/>
                          </a:solidFill>
                          <a:latin typeface="Calibri"/>
                        </a:rPr>
                        <a:t>0.5–1 day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A37"/>
                          </a:solidFill>
                          <a:latin typeface="Calibri"/>
                        </a:rPr>
                        <a:t>≈ 3×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238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A37"/>
                          </a:solidFill>
                          <a:latin typeface="Calibri"/>
                        </a:rPr>
                        <a:t>Brand rename (Catalyst → Signature)</a:t>
                      </a:r>
                    </a:p>
                  </a:txBody>
                  <a:tcPr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A37"/>
                          </a:solidFill>
                          <a:latin typeface="Calibri"/>
                        </a:rPr>
                        <a:t>1.5 days</a:t>
                      </a:r>
                    </a:p>
                  </a:txBody>
                  <a:tcPr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A37"/>
                          </a:solidFill>
                          <a:latin typeface="Calibri"/>
                        </a:rPr>
                        <a:t>≈ 2 hrs</a:t>
                      </a:r>
                    </a:p>
                  </a:txBody>
                  <a:tcPr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A37"/>
                          </a:solidFill>
                          <a:latin typeface="Calibri"/>
                        </a:rPr>
                        <a:t>≈ 6×</a:t>
                      </a:r>
                    </a:p>
                  </a:txBody>
                  <a:tcPr anchor="ctr"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238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A37"/>
                          </a:solidFill>
                          <a:latin typeface="Calibri"/>
                        </a:rPr>
                        <a:t>Documentation (PRD + guides + report ref)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A37"/>
                          </a:solidFill>
                          <a:latin typeface="Calibri"/>
                        </a:rPr>
                        <a:t>4–5 days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A37"/>
                          </a:solidFill>
                          <a:latin typeface="Calibri"/>
                        </a:rPr>
                        <a:t>1 day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A37"/>
                          </a:solidFill>
                          <a:latin typeface="Calibri"/>
                        </a:rPr>
                        <a:t>≈ 4–5×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239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A3D"/>
                          </a:solidFill>
                          <a:latin typeface="Calibri"/>
                        </a:rPr>
                        <a:t>Total (effort, not calendar)</a:t>
                      </a:r>
                    </a:p>
                  </a:txBody>
                  <a:tcPr anchor="ctr">
                    <a:solidFill>
                      <a:srgbClr val="E8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A3D"/>
                          </a:solidFill>
                          <a:latin typeface="Calibri"/>
                        </a:rPr>
                        <a:t>≈ 33–43 days</a:t>
                      </a:r>
                    </a:p>
                  </a:txBody>
                  <a:tcPr anchor="ctr">
                    <a:solidFill>
                      <a:srgbClr val="E8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A3D"/>
                          </a:solidFill>
                          <a:latin typeface="Calibri"/>
                        </a:rPr>
                        <a:t>≈ 8–9 days</a:t>
                      </a:r>
                    </a:p>
                  </a:txBody>
                  <a:tcPr anchor="ctr">
                    <a:solidFill>
                      <a:srgbClr val="E8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A3D"/>
                          </a:solidFill>
                          <a:latin typeface="Calibri"/>
                        </a:rPr>
                        <a:t>≈ 4–5×</a:t>
                      </a:r>
                    </a:p>
                  </a:txBody>
                  <a:tcPr anchor="ctr">
                    <a:solidFill>
                      <a:srgbClr val="E8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48640" y="6035040"/>
            <a:ext cx="11155680" cy="548640"/>
          </a:xfrm>
          <a:prstGeom prst="roundRect">
            <a:avLst>
              <a:gd name="adj" fmla="val 18000"/>
            </a:avLst>
          </a:prstGeom>
          <a:solidFill>
            <a:srgbClr val="1E2A3D"/>
          </a:solidFill>
          <a:ln w="9525">
            <a:solidFill>
              <a:srgbClr val="1E2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6126480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3BD4E7"/>
                </a:solidFill>
                <a:latin typeface="Calibri"/>
              </a:rPr>
              <a:t>Headline.  </a:t>
            </a:r>
            <a:r>
              <a:rPr sz="1200" b="0" i="0">
                <a:solidFill>
                  <a:srgbClr val="FFFFFF"/>
                </a:solidFill>
                <a:latin typeface="Calibri"/>
              </a:rPr>
              <a:t>A ~5–6 week build compresses to ~1.5–2 weeks of focused engineering effort. Calendar time depends on review and stakeholder cycles, not typing.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828800" cy="45720"/>
          </a:xfrm>
          <a:prstGeom prst="rect">
            <a:avLst/>
          </a:prstGeom>
          <a:solidFill>
            <a:srgbClr val="3BD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20095" y="292608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1">
                <a:solidFill>
                  <a:srgbClr val="1E2A3D"/>
                </a:solidFill>
                <a:latin typeface="Calibri"/>
              </a:rPr>
              <a:t>hy</a:t>
            </a:r>
            <a:r>
              <a:rPr sz="1600" b="1">
                <a:solidFill>
                  <a:srgbClr val="3BD4E7"/>
                </a:solidFill>
                <a:latin typeface="Calibri"/>
              </a:rPr>
              <a:t>reo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3BD4E7"/>
                </a:solidFill>
                <a:latin typeface="Calibri"/>
              </a:rPr>
              <a:t>04  ·  HONEST READ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E2A3D"/>
                </a:solidFill>
                <a:latin typeface="Calibri"/>
              </a:rPr>
              <a:t>What scaled — and what didn't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07008"/>
            <a:ext cx="11155680" cy="9525"/>
          </a:xfrm>
          <a:prstGeom prst="rect">
            <a:avLst/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06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5486400" cy="4937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1463040"/>
            <a:ext cx="548640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50876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What scaled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057400"/>
            <a:ext cx="507492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3BD4E7"/>
                </a:solidFill>
                <a:latin typeface="Calibri"/>
              </a:rPr>
              <a:t>•  </a:t>
            </a:r>
            <a:r>
              <a:rPr sz="1200" b="1">
                <a:solidFill>
                  <a:srgbClr val="1E2A3D"/>
                </a:solidFill>
                <a:latin typeface="Calibri"/>
              </a:rPr>
              <a:t>Repeatable prompts.</a:t>
            </a:r>
            <a:r>
              <a:rPr sz="1200">
                <a:solidFill>
                  <a:srgbClr val="1F2A37"/>
                </a:solidFill>
                <a:latin typeface="Calibri"/>
              </a:rPr>
              <a:t> Scoring rules, BARS, dimension weights — encoded once, reused everywhere.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200" b="1">
                <a:solidFill>
                  <a:srgbClr val="3BD4E7"/>
                </a:solidFill>
                <a:latin typeface="Calibri"/>
              </a:rPr>
              <a:t>•  </a:t>
            </a:r>
            <a:r>
              <a:rPr sz="1200" b="1">
                <a:solidFill>
                  <a:srgbClr val="1E2A3D"/>
                </a:solidFill>
                <a:latin typeface="Calibri"/>
              </a:rPr>
              <a:t>Shared context files.</a:t>
            </a:r>
            <a:r>
              <a:rPr sz="1200">
                <a:solidFill>
                  <a:srgbClr val="1F2A37"/>
                </a:solidFill>
                <a:latin typeface="Calibri"/>
              </a:rPr>
              <a:t>  PRODUCT-DOC, USER-GUIDE, REPORT-REFERENCE feed every new task instantly.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200" b="1">
                <a:solidFill>
                  <a:srgbClr val="3BD4E7"/>
                </a:solidFill>
                <a:latin typeface="Calibri"/>
              </a:rPr>
              <a:t>•  </a:t>
            </a:r>
            <a:r>
              <a:rPr sz="1200" b="1">
                <a:solidFill>
                  <a:srgbClr val="1E2A3D"/>
                </a:solidFill>
                <a:latin typeface="Calibri"/>
              </a:rPr>
              <a:t>Parallel UI work.</a:t>
            </a:r>
            <a:r>
              <a:rPr sz="1200">
                <a:solidFill>
                  <a:srgbClr val="1F2A37"/>
                </a:solidFill>
                <a:latin typeface="Calibri"/>
              </a:rPr>
              <a:t> Adventure and Mission built against the same shared engine without diverging.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200" b="1">
                <a:solidFill>
                  <a:srgbClr val="3BD4E7"/>
                </a:solidFill>
                <a:latin typeface="Calibri"/>
              </a:rPr>
              <a:t>•  </a:t>
            </a:r>
            <a:r>
              <a:rPr sz="1200" b="1">
                <a:solidFill>
                  <a:srgbClr val="1E2A3D"/>
                </a:solidFill>
                <a:latin typeface="Calibri"/>
              </a:rPr>
              <a:t>Refactor under cover.</a:t>
            </a:r>
            <a:r>
              <a:rPr sz="1200">
                <a:solidFill>
                  <a:srgbClr val="1F2A37"/>
                </a:solidFill>
                <a:latin typeface="Calibri"/>
              </a:rPr>
              <a:t>  The Catalyst → Signature Sprint rename happened in hours, not days.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200" b="1">
                <a:solidFill>
                  <a:srgbClr val="3BD4E7"/>
                </a:solidFill>
                <a:latin typeface="Calibri"/>
              </a:rPr>
              <a:t>•  </a:t>
            </a:r>
            <a:r>
              <a:rPr sz="1200" b="1">
                <a:solidFill>
                  <a:srgbClr val="1E2A3D"/>
                </a:solidFill>
                <a:latin typeface="Calibri"/>
              </a:rPr>
              <a:t>Documentation parity.</a:t>
            </a:r>
            <a:r>
              <a:rPr sz="1200">
                <a:solidFill>
                  <a:srgbClr val="1F2A37"/>
                </a:solidFill>
                <a:latin typeface="Calibri"/>
              </a:rPr>
              <a:t>  Code and docs stay aligned because both come out of the same workflow.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463040"/>
            <a:ext cx="5486400" cy="4937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1463040"/>
            <a:ext cx="5486400" cy="4572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150876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What didn't (yet)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057400"/>
            <a:ext cx="507492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3BD4E7"/>
                </a:solidFill>
                <a:latin typeface="Calibri"/>
              </a:rPr>
              <a:t>•  </a:t>
            </a:r>
            <a:r>
              <a:rPr sz="1200" b="1">
                <a:solidFill>
                  <a:srgbClr val="1E2A3D"/>
                </a:solidFill>
                <a:latin typeface="Calibri"/>
              </a:rPr>
              <a:t>Subjective design.</a:t>
            </a:r>
            <a:r>
              <a:rPr sz="1200">
                <a:solidFill>
                  <a:srgbClr val="1F2A37"/>
                </a:solidFill>
                <a:latin typeface="Calibri"/>
              </a:rPr>
              <a:t> Visual taste and animation feel still need a human in the loop.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200" b="1">
                <a:solidFill>
                  <a:srgbClr val="3BD4E7"/>
                </a:solidFill>
                <a:latin typeface="Calibri"/>
              </a:rPr>
              <a:t>•  </a:t>
            </a:r>
            <a:r>
              <a:rPr sz="1200" b="1">
                <a:solidFill>
                  <a:srgbClr val="1E2A3D"/>
                </a:solidFill>
                <a:latin typeface="Calibri"/>
              </a:rPr>
              <a:t>Behavioral validity.</a:t>
            </a:r>
            <a:r>
              <a:rPr sz="1200">
                <a:solidFill>
                  <a:srgbClr val="1F2A37"/>
                </a:solidFill>
                <a:latin typeface="Calibri"/>
              </a:rPr>
              <a:t> Statistical rigor of validation flags needs an I/O psych review.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200" b="1">
                <a:solidFill>
                  <a:srgbClr val="3BD4E7"/>
                </a:solidFill>
                <a:latin typeface="Calibri"/>
              </a:rPr>
              <a:t>•  </a:t>
            </a:r>
            <a:r>
              <a:rPr sz="1200" b="1">
                <a:solidFill>
                  <a:srgbClr val="1E2A3D"/>
                </a:solidFill>
                <a:latin typeface="Calibri"/>
              </a:rPr>
              <a:t>Edge-case bugs.</a:t>
            </a:r>
            <a:r>
              <a:rPr sz="1200">
                <a:solidFill>
                  <a:srgbClr val="1F2A37"/>
                </a:solidFill>
                <a:latin typeface="Calibri"/>
              </a:rPr>
              <a:t> Timer / skip / state-restore corners required hands-on debugging.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200" b="1">
                <a:solidFill>
                  <a:srgbClr val="3BD4E7"/>
                </a:solidFill>
                <a:latin typeface="Calibri"/>
              </a:rPr>
              <a:t>•  </a:t>
            </a:r>
            <a:r>
              <a:rPr sz="1200" b="1">
                <a:solidFill>
                  <a:srgbClr val="1E2A3D"/>
                </a:solidFill>
                <a:latin typeface="Calibri"/>
              </a:rPr>
              <a:t>Code review still matters.</a:t>
            </a:r>
            <a:r>
              <a:rPr sz="1200">
                <a:solidFill>
                  <a:srgbClr val="1F2A37"/>
                </a:solidFill>
                <a:latin typeface="Calibri"/>
              </a:rPr>
              <a:t> AI moves fast; merging without review compounds risk fast.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200" b="1">
                <a:solidFill>
                  <a:srgbClr val="3BD4E7"/>
                </a:solidFill>
                <a:latin typeface="Calibri"/>
              </a:rPr>
              <a:t>•  </a:t>
            </a:r>
            <a:r>
              <a:rPr sz="1200" b="1">
                <a:solidFill>
                  <a:srgbClr val="1E2A3D"/>
                </a:solidFill>
                <a:latin typeface="Calibri"/>
              </a:rPr>
              <a:t>Onboarding artifacts.</a:t>
            </a:r>
            <a:r>
              <a:rPr sz="1200">
                <a:solidFill>
                  <a:srgbClr val="1F2A37"/>
                </a:solidFill>
                <a:latin typeface="Calibri"/>
              </a:rPr>
              <a:t>  Without CCPM-style structure, context is in our heads, not the repo.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Hyreo Labs  ·  Internal  ·  Building with Claude.ai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828800" cy="45720"/>
          </a:xfrm>
          <a:prstGeom prst="rect">
            <a:avLst/>
          </a:prstGeom>
          <a:solidFill>
            <a:srgbClr val="3BD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20095" y="292608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1">
                <a:solidFill>
                  <a:srgbClr val="1E2A3D"/>
                </a:solidFill>
                <a:latin typeface="Calibri"/>
              </a:rPr>
              <a:t>hy</a:t>
            </a:r>
            <a:r>
              <a:rPr sz="1600" b="1">
                <a:solidFill>
                  <a:srgbClr val="3BD4E7"/>
                </a:solidFill>
                <a:latin typeface="Calibri"/>
              </a:rPr>
              <a:t>reo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3BD4E7"/>
                </a:solidFill>
                <a:latin typeface="Calibri"/>
              </a:rPr>
              <a:t>05  ·  APPLICABILITY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E2A3D"/>
                </a:solidFill>
                <a:latin typeface="Calibri"/>
              </a:rPr>
              <a:t>Where the same workflow earns its keep next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07008"/>
            <a:ext cx="11155680" cy="9525"/>
          </a:xfrm>
          <a:prstGeom prst="rect">
            <a:avLst/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07 /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1732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Concrete next features for Signature Sprint that fit the same AI-paired workflow.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28800"/>
            <a:ext cx="365760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91440" cy="1508760"/>
          </a:xfrm>
          <a:prstGeom prst="rect">
            <a:avLst/>
          </a:prstGeom>
          <a:solidFill>
            <a:srgbClr val="3BD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196596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A3D"/>
                </a:solidFill>
                <a:latin typeface="Calibri"/>
              </a:rPr>
              <a:t>New competencies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31720"/>
            <a:ext cx="329184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1F2A37"/>
                </a:solidFill>
                <a:latin typeface="Calibri"/>
              </a:rPr>
              <a:t>Add Collaboration, Customer Focus, Learning Agility — same pattern: dimensions → BARS → scenarios → scoring weights.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65760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91440" cy="1508760"/>
          </a:xfrm>
          <a:prstGeom prst="rect">
            <a:avLst/>
          </a:prstGeom>
          <a:solidFill>
            <a:srgbClr val="3BD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0" y="196596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A3D"/>
                </a:solidFill>
                <a:latin typeface="Calibri"/>
              </a:rPr>
              <a:t>Persistence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331720"/>
            <a:ext cx="329184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1F2A37"/>
                </a:solidFill>
                <a:latin typeface="Calibri"/>
              </a:rPr>
              <a:t>Swap browser localStorage for a real backend (Postgres + REST). Engine surface stays unchanged.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828800"/>
            <a:ext cx="365760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38160" y="1828800"/>
            <a:ext cx="91440" cy="1508760"/>
          </a:xfrm>
          <a:prstGeom prst="rect">
            <a:avLst/>
          </a:prstGeom>
          <a:solidFill>
            <a:srgbClr val="3BD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66760" y="196596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A3D"/>
                </a:solidFill>
                <a:latin typeface="Calibri"/>
              </a:rPr>
              <a:t>Multi-evaluator 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331720"/>
            <a:ext cx="329184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1F2A37"/>
                </a:solidFill>
                <a:latin typeface="Calibri"/>
              </a:rPr>
              <a:t>Add roles, comments, and a shortlist queue on top of the manager portal.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502152"/>
            <a:ext cx="365760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48640" y="3502152"/>
            <a:ext cx="91440" cy="1508760"/>
          </a:xfrm>
          <a:prstGeom prst="rect">
            <a:avLst/>
          </a:prstGeom>
          <a:solidFill>
            <a:srgbClr val="3BD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3639312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A3D"/>
                </a:solidFill>
                <a:latin typeface="Calibri"/>
              </a:rPr>
              <a:t>Report exports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005072"/>
            <a:ext cx="329184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1F2A37"/>
                </a:solidFill>
                <a:latin typeface="Calibri"/>
              </a:rPr>
              <a:t>PDF / CSV bulk export from the candidate list; structured JSON for ATS handoff.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3400" y="3502152"/>
            <a:ext cx="365760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43400" y="3502152"/>
            <a:ext cx="91440" cy="1508760"/>
          </a:xfrm>
          <a:prstGeom prst="rect">
            <a:avLst/>
          </a:prstGeom>
          <a:solidFill>
            <a:srgbClr val="3BD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0" y="3639312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A3D"/>
                </a:solidFill>
                <a:latin typeface="Calibri"/>
              </a:rPr>
              <a:t>Localization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4005072"/>
            <a:ext cx="329184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1F2A37"/>
                </a:solidFill>
                <a:latin typeface="Calibri"/>
              </a:rPr>
              <a:t>Hindi / regional language scenario sets; one prompt, one review pass per locale.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3502152"/>
            <a:ext cx="365760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138160" y="3502152"/>
            <a:ext cx="91440" cy="1508760"/>
          </a:xfrm>
          <a:prstGeom prst="rect">
            <a:avLst/>
          </a:prstGeom>
          <a:solidFill>
            <a:srgbClr val="3BD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66760" y="3639312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A3D"/>
                </a:solidFill>
                <a:latin typeface="Calibri"/>
              </a:rPr>
              <a:t>Analytics dashboard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4005072"/>
            <a:ext cx="329184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1F2A37"/>
                </a:solidFill>
                <a:latin typeface="Calibri"/>
              </a:rPr>
              <a:t>Cohort views — score distribution, flag rates, dimension means by role band.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212080"/>
            <a:ext cx="11155680" cy="960120"/>
          </a:xfrm>
          <a:prstGeom prst="roundRect">
            <a:avLst>
              <a:gd name="adj" fmla="val 10000"/>
            </a:avLst>
          </a:prstGeom>
          <a:solidFill>
            <a:srgbClr val="F5F9FC"/>
          </a:solidFill>
          <a:ln w="9525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77240" y="5349240"/>
            <a:ext cx="107899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1E2A3D"/>
                </a:solidFill>
                <a:latin typeface="Calibri"/>
              </a:rPr>
              <a:t>The pattern.  </a:t>
            </a:r>
            <a:r>
              <a:rPr sz="1200" b="0" i="0">
                <a:solidFill>
                  <a:srgbClr val="1F2A37"/>
                </a:solidFill>
                <a:latin typeface="Calibri"/>
              </a:rPr>
              <a:t>Each item above is a vertical slice — spec, scenarios, code, and docs — that fits a single CCPM epic. Sized for one engineer + Claude over 3–8 days, end to end.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Hyreo Labs  ·  Internal  ·  Building with Claude.ai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828800" cy="45720"/>
          </a:xfrm>
          <a:prstGeom prst="rect">
            <a:avLst/>
          </a:prstGeom>
          <a:solidFill>
            <a:srgbClr val="3BD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20095" y="292608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1">
                <a:solidFill>
                  <a:srgbClr val="1E2A3D"/>
                </a:solidFill>
                <a:latin typeface="Calibri"/>
              </a:rPr>
              <a:t>hy</a:t>
            </a:r>
            <a:r>
              <a:rPr sz="1600" b="1">
                <a:solidFill>
                  <a:srgbClr val="3BD4E7"/>
                </a:solidFill>
                <a:latin typeface="Calibri"/>
              </a:rPr>
              <a:t>reo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3BD4E7"/>
                </a:solidFill>
                <a:latin typeface="Calibri"/>
              </a:rPr>
              <a:t>06  ·  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E2A3D"/>
                </a:solidFill>
                <a:latin typeface="Calibri"/>
              </a:rPr>
              <a:t>BMAD vs CCPM — side by side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07008"/>
            <a:ext cx="11155680" cy="9525"/>
          </a:xfrm>
          <a:prstGeom prst="rect">
            <a:avLst/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08 /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1732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Two mature AI-development methods. Same goal — repeatable, structured AI-paired delivery — different shapes.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828800"/>
          <a:ext cx="111556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Dimension</a:t>
                      </a:r>
                    </a:p>
                  </a:txBody>
                  <a:tcPr anchor="ctr">
                    <a:solidFill>
                      <a:srgbClr val="1E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BMAD-METHOD</a:t>
                      </a:r>
                    </a:p>
                  </a:txBody>
                  <a:tcPr anchor="ctr">
                    <a:solidFill>
                      <a:srgbClr val="1E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CCPM</a:t>
                      </a:r>
                    </a:p>
                  </a:txBody>
                  <a:tcPr anchor="ctr">
                    <a:solidFill>
                      <a:srgbClr val="1E2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A37"/>
                          </a:solidFill>
                          <a:latin typeface="Calibri"/>
                        </a:rPr>
                        <a:t>Core idea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A37"/>
                          </a:solidFill>
                          <a:latin typeface="Calibri"/>
                        </a:rPr>
                        <a:t>Specialized agent personas drive a phased pipeline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A37"/>
                          </a:solidFill>
                          <a:latin typeface="Calibri"/>
                        </a:rPr>
                        <a:t>GitHub Issues drive parallel sub-agent work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A37"/>
                          </a:solidFill>
                          <a:latin typeface="Calibri"/>
                        </a:rPr>
                        <a:t>Roles</a:t>
                      </a:r>
                    </a:p>
                  </a:txBody>
                  <a:tcPr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A37"/>
                          </a:solidFill>
                          <a:latin typeface="Calibri"/>
                        </a:rPr>
                        <a:t>Analyst → PM → Architect → SM → Dev → QA</a:t>
                      </a:r>
                    </a:p>
                  </a:txBody>
                  <a:tcPr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A37"/>
                          </a:solidFill>
                          <a:latin typeface="Calibri"/>
                        </a:rPr>
                        <a:t>PRD → Epic → Tasks → Issues → Implementation</a:t>
                      </a:r>
                    </a:p>
                  </a:txBody>
                  <a:tcPr anchor="ctr"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A37"/>
                          </a:solidFill>
                          <a:latin typeface="Calibri"/>
                        </a:rPr>
                        <a:t>Unit of work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A37"/>
                          </a:solidFill>
                          <a:latin typeface="Calibri"/>
                        </a:rPr>
                        <a:t>Story file with full context for the Dev agent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A37"/>
                          </a:solidFill>
                          <a:latin typeface="Calibri"/>
                        </a:rPr>
                        <a:t>GitHub Issue worked in its own git worktree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A37"/>
                          </a:solidFill>
                          <a:latin typeface="Calibri"/>
                        </a:rPr>
                        <a:t>Parallelism</a:t>
                      </a:r>
                    </a:p>
                  </a:txBody>
                  <a:tcPr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A37"/>
                          </a:solidFill>
                          <a:latin typeface="Calibri"/>
                        </a:rPr>
                        <a:t>Sequential by design; one phase at a time</a:t>
                      </a:r>
                    </a:p>
                  </a:txBody>
                  <a:tcPr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A37"/>
                          </a:solidFill>
                          <a:latin typeface="Calibri"/>
                        </a:rPr>
                        <a:t>Parallel by design; many issues / agents at once</a:t>
                      </a:r>
                    </a:p>
                  </a:txBody>
                  <a:tcPr anchor="ctr"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A37"/>
                          </a:solidFill>
                          <a:latin typeface="Calibri"/>
                        </a:rPr>
                        <a:t>Best fit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A37"/>
                          </a:solidFill>
                          <a:latin typeface="Calibri"/>
                        </a:rPr>
                        <a:t>Greenfield — building a new product from scratch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A37"/>
                          </a:solidFill>
                          <a:latin typeface="Calibri"/>
                        </a:rPr>
                        <a:t>Brownfield — scaling and shipping an existing product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A37"/>
                          </a:solidFill>
                          <a:latin typeface="Calibri"/>
                        </a:rPr>
                        <a:t>Team coordination</a:t>
                      </a:r>
                    </a:p>
                  </a:txBody>
                  <a:tcPr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A37"/>
                          </a:solidFill>
                          <a:latin typeface="Calibri"/>
                        </a:rPr>
                        <a:t>Single dev + agents; story files are the handoff</a:t>
                      </a:r>
                    </a:p>
                  </a:txBody>
                  <a:tcPr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A37"/>
                          </a:solidFill>
                          <a:latin typeface="Calibri"/>
                        </a:rPr>
                        <a:t>Team-first; GitHub is the source of truth</a:t>
                      </a:r>
                    </a:p>
                  </a:txBody>
                  <a:tcPr anchor="ctr"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A37"/>
                          </a:solidFill>
                          <a:latin typeface="Calibri"/>
                        </a:rPr>
                        <a:t>Onboarding cost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A37"/>
                          </a:solidFill>
                          <a:latin typeface="Calibri"/>
                        </a:rPr>
                        <a:t>Higher — new vocabulary + persona files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A37"/>
                          </a:solidFill>
                          <a:latin typeface="Calibri"/>
                        </a:rPr>
                        <a:t>Lower — anyone who knows GitHub Issues can join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A37"/>
                          </a:solidFill>
                          <a:latin typeface="Calibri"/>
                        </a:rPr>
                        <a:t>Failure mode</a:t>
                      </a:r>
                    </a:p>
                  </a:txBody>
                  <a:tcPr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A37"/>
                          </a:solidFill>
                          <a:latin typeface="Calibri"/>
                        </a:rPr>
                        <a:t>Heavy ceremony if the project is small</a:t>
                      </a:r>
                    </a:p>
                  </a:txBody>
                  <a:tcPr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A37"/>
                          </a:solidFill>
                          <a:latin typeface="Calibri"/>
                        </a:rPr>
                        <a:t>Issue sprawl without good epic hygiene</a:t>
                      </a:r>
                    </a:p>
                  </a:txBody>
                  <a:tcPr anchor="ctr"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48640" y="6263640"/>
            <a:ext cx="11155680" cy="457200"/>
          </a:xfrm>
          <a:prstGeom prst="roundRect">
            <a:avLst>
              <a:gd name="adj" fmla="val 20000"/>
            </a:avLst>
          </a:prstGeom>
          <a:solidFill>
            <a:srgbClr val="1E2A3D"/>
          </a:solidFill>
          <a:ln w="9525">
            <a:solidFill>
              <a:srgbClr val="1E2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6309360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3BD4E7"/>
                </a:solidFill>
                <a:latin typeface="Calibri"/>
              </a:rPr>
              <a:t>Read.  </a:t>
            </a:r>
            <a:r>
              <a:rPr sz="1200" b="0" i="0">
                <a:solidFill>
                  <a:srgbClr val="FFFFFF"/>
                </a:solidFill>
                <a:latin typeface="Calibri"/>
              </a:rPr>
              <a:t>BMAD optimizes for </a:t>
            </a:r>
            <a:r>
              <a:rPr sz="1200" b="0" i="1">
                <a:solidFill>
                  <a:srgbClr val="FFFFFF"/>
                </a:solidFill>
                <a:latin typeface="Calibri"/>
              </a:rPr>
              <a:t>starting</a:t>
            </a:r>
            <a:r>
              <a:rPr sz="1200" b="0" i="0">
                <a:solidFill>
                  <a:srgbClr val="FFFFFF"/>
                </a:solidFill>
                <a:latin typeface="Calibri"/>
              </a:rPr>
              <a:t>.  CCPM optimizes for </a:t>
            </a:r>
            <a:r>
              <a:rPr sz="1200" b="0" i="1">
                <a:solidFill>
                  <a:srgbClr val="FFFFFF"/>
                </a:solidFill>
                <a:latin typeface="Calibri"/>
              </a:rPr>
              <a:t>scaling</a:t>
            </a:r>
            <a:r>
              <a:rPr sz="1200" b="0" i="0">
                <a:solidFill>
                  <a:srgbClr val="FFFFFF"/>
                </a:solidFill>
                <a:latin typeface="Calibri"/>
              </a:rPr>
              <a:t>.  Signature Sprint is past start.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828800" cy="45720"/>
          </a:xfrm>
          <a:prstGeom prst="rect">
            <a:avLst/>
          </a:prstGeom>
          <a:solidFill>
            <a:srgbClr val="3BD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20095" y="292608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1">
                <a:solidFill>
                  <a:srgbClr val="1E2A3D"/>
                </a:solidFill>
                <a:latin typeface="Calibri"/>
              </a:rPr>
              <a:t>hy</a:t>
            </a:r>
            <a:r>
              <a:rPr sz="1600" b="1">
                <a:solidFill>
                  <a:srgbClr val="3BD4E7"/>
                </a:solidFill>
                <a:latin typeface="Calibri"/>
              </a:rPr>
              <a:t>reo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3BD4E7"/>
                </a:solidFill>
                <a:latin typeface="Calibri"/>
              </a:rPr>
              <a:t>07  ·  RECOMMENDATION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E2A3D"/>
                </a:solidFill>
                <a:latin typeface="Calibri"/>
              </a:rPr>
              <a:t>We recommend CCPM for Signature Sprint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07008"/>
            <a:ext cx="11155680" cy="9525"/>
          </a:xfrm>
          <a:prstGeom prst="rect">
            <a:avLst/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09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4114800" cy="2194560"/>
          </a:xfrm>
          <a:prstGeom prst="roundRect">
            <a:avLst>
              <a:gd name="adj" fmla="val 6000"/>
            </a:avLst>
          </a:prstGeom>
          <a:solidFill>
            <a:srgbClr val="1E2A3D"/>
          </a:solidFill>
          <a:ln w="9525">
            <a:solidFill>
              <a:srgbClr val="1E2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160020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3BD4E7"/>
                </a:solidFill>
                <a:latin typeface="Calibri"/>
              </a:rPr>
              <a:t>VERDICT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920240"/>
            <a:ext cx="3657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Adopt CCPM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43200"/>
            <a:ext cx="3657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C7D7EA"/>
                </a:solidFill>
                <a:latin typeface="Calibri"/>
              </a:rPr>
              <a:t>Lightweight overlay on top of GitHub.
No new vocabulary. Parallel by design.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1463040"/>
            <a:ext cx="6766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E2A3D"/>
                </a:solidFill>
                <a:latin typeface="Calibri"/>
              </a:rPr>
              <a:t>Why CCPM, specifically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1874519"/>
            <a:ext cx="676656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3BD4E7"/>
                </a:solidFill>
                <a:latin typeface="Calibri"/>
              </a:rPr>
              <a:t>•  </a:t>
            </a:r>
            <a:r>
              <a:rPr sz="1200" b="1">
                <a:solidFill>
                  <a:srgbClr val="1E2A3D"/>
                </a:solidFill>
                <a:latin typeface="Calibri"/>
              </a:rPr>
              <a:t>Project is past greenfield.</a:t>
            </a:r>
            <a:r>
              <a:rPr sz="1200">
                <a:solidFill>
                  <a:srgbClr val="1F2A37"/>
                </a:solidFill>
                <a:latin typeface="Calibri"/>
              </a:rPr>
              <a:t> The system exists; the work is iterate-and-scale, where CCPM shines.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</a:pPr>
            <a:r>
              <a:rPr sz="1200" b="1">
                <a:solidFill>
                  <a:srgbClr val="3BD4E7"/>
                </a:solidFill>
                <a:latin typeface="Calibri"/>
              </a:rPr>
              <a:t>•  </a:t>
            </a:r>
            <a:r>
              <a:rPr sz="1200" b="1">
                <a:solidFill>
                  <a:srgbClr val="1E2A3D"/>
                </a:solidFill>
                <a:latin typeface="Calibri"/>
              </a:rPr>
              <a:t>Team is small and growing.</a:t>
            </a:r>
            <a:r>
              <a:rPr sz="1200">
                <a:solidFill>
                  <a:srgbClr val="1F2A37"/>
                </a:solidFill>
                <a:latin typeface="Calibri"/>
              </a:rPr>
              <a:t> GitHub Issues are an onboarding artifact — pick one, read it, ship it.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</a:pPr>
            <a:r>
              <a:rPr sz="1200" b="1">
                <a:solidFill>
                  <a:srgbClr val="3BD4E7"/>
                </a:solidFill>
                <a:latin typeface="Calibri"/>
              </a:rPr>
              <a:t>•  </a:t>
            </a:r>
            <a:r>
              <a:rPr sz="1200" b="1">
                <a:solidFill>
                  <a:srgbClr val="1E2A3D"/>
                </a:solidFill>
                <a:latin typeface="Calibri"/>
              </a:rPr>
              <a:t>Parallel work fits naturally.</a:t>
            </a:r>
            <a:r>
              <a:rPr sz="1200">
                <a:solidFill>
                  <a:srgbClr val="1F2A37"/>
                </a:solidFill>
                <a:latin typeface="Calibri"/>
              </a:rPr>
              <a:t> Each next feature (persistence, locales, analytics) is an independent vertical.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</a:pPr>
            <a:r>
              <a:rPr sz="1200" b="1">
                <a:solidFill>
                  <a:srgbClr val="3BD4E7"/>
                </a:solidFill>
                <a:latin typeface="Calibri"/>
              </a:rPr>
              <a:t>•  </a:t>
            </a:r>
            <a:r>
              <a:rPr sz="1200" b="1">
                <a:solidFill>
                  <a:srgbClr val="1E2A3D"/>
                </a:solidFill>
                <a:latin typeface="Calibri"/>
              </a:rPr>
              <a:t>Single source of truth.</a:t>
            </a:r>
            <a:r>
              <a:rPr sz="1200">
                <a:solidFill>
                  <a:srgbClr val="1F2A37"/>
                </a:solidFill>
                <a:latin typeface="Calibri"/>
              </a:rPr>
              <a:t> PRDs and epics live next to the code, not in slides or chat threads.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</a:pPr>
            <a:r>
              <a:rPr sz="1200" b="1">
                <a:solidFill>
                  <a:srgbClr val="3BD4E7"/>
                </a:solidFill>
                <a:latin typeface="Calibri"/>
              </a:rPr>
              <a:t>•  </a:t>
            </a:r>
            <a:r>
              <a:rPr sz="1200" b="1">
                <a:solidFill>
                  <a:srgbClr val="1E2A3D"/>
                </a:solidFill>
                <a:latin typeface="Calibri"/>
              </a:rPr>
              <a:t>Low ceremony, high structure.</a:t>
            </a:r>
            <a:r>
              <a:rPr sz="1200">
                <a:solidFill>
                  <a:srgbClr val="1F2A37"/>
                </a:solidFill>
                <a:latin typeface="Calibri"/>
              </a:rPr>
              <a:t> Dev keeps current tools; AI plugs in via worktrees and sub-agents.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943600"/>
            <a:ext cx="11155680" cy="640080"/>
          </a:xfrm>
          <a:prstGeom prst="roundRect">
            <a:avLst>
              <a:gd name="adj" fmla="val 18000"/>
            </a:avLst>
          </a:prstGeom>
          <a:solidFill>
            <a:srgbClr val="E8FAFD"/>
          </a:solidFill>
          <a:ln w="9525">
            <a:solidFill>
              <a:srgbClr val="3BD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598932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1E2A3D"/>
                </a:solidFill>
                <a:latin typeface="Calibri"/>
              </a:rPr>
              <a:t>When BMAD wins instead.  </a:t>
            </a:r>
            <a:r>
              <a:rPr sz="1200" b="0" i="0">
                <a:solidFill>
                  <a:srgbClr val="1F2A37"/>
                </a:solidFill>
                <a:latin typeface="Calibri"/>
              </a:rPr>
              <a:t>If we kick off a brand-new product (e.g., a separate Hyreo Compass or a 360° tool) from a clean slate, BMAD's analyst → architect → dev pipeline is a stronger starting frame.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828800" cy="45720"/>
          </a:xfrm>
          <a:prstGeom prst="rect">
            <a:avLst/>
          </a:prstGeom>
          <a:solidFill>
            <a:srgbClr val="3BD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20095" y="292608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1">
                <a:solidFill>
                  <a:srgbClr val="1E2A3D"/>
                </a:solidFill>
                <a:latin typeface="Calibri"/>
              </a:rPr>
              <a:t>hy</a:t>
            </a:r>
            <a:r>
              <a:rPr sz="1600" b="1">
                <a:solidFill>
                  <a:srgbClr val="3BD4E7"/>
                </a:solidFill>
                <a:latin typeface="Calibri"/>
              </a:rPr>
              <a:t>reo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3BD4E7"/>
                </a:solidFill>
                <a:latin typeface="Calibri"/>
              </a:rPr>
              <a:t>08  ·  CCPM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E2A3D"/>
                </a:solidFill>
                <a:latin typeface="Calibri"/>
              </a:rPr>
              <a:t>How a feature flows under CCPM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07008"/>
            <a:ext cx="11155680" cy="9525"/>
          </a:xfrm>
          <a:prstGeom prst="rect">
            <a:avLst/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10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5167" y="1828800"/>
            <a:ext cx="2103120" cy="1463040"/>
          </a:xfrm>
          <a:prstGeom prst="roundRect">
            <a:avLst>
              <a:gd name="adj" fmla="val 10000"/>
            </a:avLst>
          </a:prstGeom>
          <a:solidFill>
            <a:srgbClr val="1E2A3D"/>
          </a:solidFill>
          <a:ln w="9525">
            <a:solidFill>
              <a:srgbClr val="1E2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5167" y="205740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3BD4E7"/>
                </a:solidFill>
                <a:latin typeface="Calibri"/>
              </a:rPr>
              <a:t>PRD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167" y="2560320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Product brief
in /prds/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760287" y="2450592"/>
            <a:ext cx="87440" cy="219456"/>
          </a:xfrm>
          <a:prstGeom prst="rightArrow">
            <a:avLst/>
          </a:prstGeom>
          <a:solidFill>
            <a:srgbClr val="3BD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849727" y="1828800"/>
            <a:ext cx="2103120" cy="1463040"/>
          </a:xfrm>
          <a:prstGeom prst="roundRect">
            <a:avLst>
              <a:gd name="adj" fmla="val 10000"/>
            </a:avLst>
          </a:prstGeom>
          <a:solidFill>
            <a:srgbClr val="2A3A52"/>
          </a:solidFill>
          <a:ln w="9525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849727" y="205740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3BD4E7"/>
                </a:solidFill>
                <a:latin typeface="Calibri"/>
              </a:rPr>
              <a:t>Epic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49727" y="2560320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Decomposed into
phased plan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954847" y="2450592"/>
            <a:ext cx="87440" cy="219456"/>
          </a:xfrm>
          <a:prstGeom prst="rightArrow">
            <a:avLst/>
          </a:prstGeom>
          <a:solidFill>
            <a:srgbClr val="3BD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044287" y="1828800"/>
            <a:ext cx="2103120" cy="1463040"/>
          </a:xfrm>
          <a:prstGeom prst="roundRect">
            <a:avLst>
              <a:gd name="adj" fmla="val 10000"/>
            </a:avLst>
          </a:prstGeom>
          <a:solidFill>
            <a:srgbClr val="1E2A3D"/>
          </a:solidFill>
          <a:ln w="9525">
            <a:solidFill>
              <a:srgbClr val="1E2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44287" y="205740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3BD4E7"/>
                </a:solidFill>
                <a:latin typeface="Calibri"/>
              </a:rPr>
              <a:t>Tasks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44287" y="2560320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Broken into
actionable units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149407" y="2450592"/>
            <a:ext cx="87440" cy="219456"/>
          </a:xfrm>
          <a:prstGeom prst="rightArrow">
            <a:avLst/>
          </a:prstGeom>
          <a:solidFill>
            <a:srgbClr val="3BD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238847" y="1828800"/>
            <a:ext cx="2103120" cy="1463040"/>
          </a:xfrm>
          <a:prstGeom prst="roundRect">
            <a:avLst>
              <a:gd name="adj" fmla="val 10000"/>
            </a:avLst>
          </a:prstGeom>
          <a:solidFill>
            <a:srgbClr val="2A3A52"/>
          </a:solidFill>
          <a:ln w="9525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38847" y="205740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3BD4E7"/>
                </a:solidFill>
                <a:latin typeface="Calibri"/>
              </a:rPr>
              <a:t>GitHub Issues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38847" y="2560320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Each task = one
issue, parallelizable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343967" y="2450592"/>
            <a:ext cx="87440" cy="219456"/>
          </a:xfrm>
          <a:prstGeom prst="rightArrow">
            <a:avLst/>
          </a:prstGeom>
          <a:solidFill>
            <a:srgbClr val="3BD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9433407" y="1828800"/>
            <a:ext cx="2103120" cy="1463040"/>
          </a:xfrm>
          <a:prstGeom prst="roundRect">
            <a:avLst>
              <a:gd name="adj" fmla="val 10000"/>
            </a:avLst>
          </a:prstGeom>
          <a:solidFill>
            <a:srgbClr val="1E2A3D"/>
          </a:solidFill>
          <a:ln w="9525">
            <a:solidFill>
              <a:srgbClr val="1E2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433407" y="205740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3BD4E7"/>
                </a:solidFill>
                <a:latin typeface="Calibri"/>
              </a:rPr>
              <a:t>Implementation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3407" y="2560320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Sub-agent + worktree
per issue, merge to main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749039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E2A3D"/>
                </a:solidFill>
                <a:latin typeface="Calibri"/>
              </a:rPr>
              <a:t>Artifacts in the repo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160520"/>
            <a:ext cx="548640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3BD4E7"/>
                </a:solidFill>
                <a:latin typeface="Calibri"/>
              </a:rPr>
              <a:t>•  </a:t>
            </a:r>
            <a:r>
              <a:rPr sz="1150">
                <a:solidFill>
                  <a:srgbClr val="1F2A37"/>
                </a:solidFill>
                <a:latin typeface="Calibri"/>
              </a:rPr>
              <a:t>/prds/&lt;feature&gt;.md  —  product brief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150" b="1">
                <a:solidFill>
                  <a:srgbClr val="3BD4E7"/>
                </a:solidFill>
                <a:latin typeface="Calibri"/>
              </a:rPr>
              <a:t>•  </a:t>
            </a:r>
            <a:r>
              <a:rPr sz="1150">
                <a:solidFill>
                  <a:srgbClr val="1F2A37"/>
                </a:solidFill>
                <a:latin typeface="Calibri"/>
              </a:rPr>
              <a:t>/epics/&lt;feature&gt;/  —  phased plan + task list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150" b="1">
                <a:solidFill>
                  <a:srgbClr val="3BD4E7"/>
                </a:solidFill>
                <a:latin typeface="Calibri"/>
              </a:rPr>
              <a:t>•  </a:t>
            </a:r>
            <a:r>
              <a:rPr sz="1150">
                <a:solidFill>
                  <a:srgbClr val="1F2A37"/>
                </a:solidFill>
                <a:latin typeface="Calibri"/>
              </a:rPr>
              <a:t>GitHub Issues  —  one per task, label by epic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150" b="1">
                <a:solidFill>
                  <a:srgbClr val="3BD4E7"/>
                </a:solidFill>
                <a:latin typeface="Calibri"/>
              </a:rPr>
              <a:t>•  </a:t>
            </a:r>
            <a:r>
              <a:rPr sz="1150">
                <a:solidFill>
                  <a:srgbClr val="1F2A37"/>
                </a:solidFill>
                <a:latin typeface="Calibri"/>
              </a:rPr>
              <a:t>/.claude/  —  agent + command definitions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150" b="1">
                <a:solidFill>
                  <a:srgbClr val="3BD4E7"/>
                </a:solidFill>
                <a:latin typeface="Calibri"/>
              </a:rPr>
              <a:t>•  </a:t>
            </a:r>
            <a:r>
              <a:rPr sz="1150">
                <a:solidFill>
                  <a:srgbClr val="1F2A37"/>
                </a:solidFill>
                <a:latin typeface="Calibri"/>
              </a:rPr>
              <a:t>CLAUDE.md  —  project conventions for agents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749039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E2A3D"/>
                </a:solidFill>
                <a:latin typeface="Calibri"/>
              </a:rPr>
              <a:t>Rituals (lightweight)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160520"/>
            <a:ext cx="548640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3BD4E7"/>
                </a:solidFill>
                <a:latin typeface="Calibri"/>
              </a:rPr>
              <a:t>•  </a:t>
            </a:r>
            <a:r>
              <a:rPr sz="1150">
                <a:solidFill>
                  <a:srgbClr val="1F2A37"/>
                </a:solidFill>
                <a:latin typeface="Calibri"/>
              </a:rPr>
              <a:t>Spec-first.  No code before a PRD + epic exist.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150" b="1">
                <a:solidFill>
                  <a:srgbClr val="3BD4E7"/>
                </a:solidFill>
                <a:latin typeface="Calibri"/>
              </a:rPr>
              <a:t>•  </a:t>
            </a:r>
            <a:r>
              <a:rPr sz="1150">
                <a:solidFill>
                  <a:srgbClr val="1F2A37"/>
                </a:solidFill>
                <a:latin typeface="Calibri"/>
              </a:rPr>
              <a:t>Issue-first.  Every change traces back to an issue.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150" b="1">
                <a:solidFill>
                  <a:srgbClr val="3BD4E7"/>
                </a:solidFill>
                <a:latin typeface="Calibri"/>
              </a:rPr>
              <a:t>•  </a:t>
            </a:r>
            <a:r>
              <a:rPr sz="1150">
                <a:solidFill>
                  <a:srgbClr val="1F2A37"/>
                </a:solidFill>
                <a:latin typeface="Calibri"/>
              </a:rPr>
              <a:t>Branch-per-issue.  Worktree branches keep mainline green.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150" b="1">
                <a:solidFill>
                  <a:srgbClr val="3BD4E7"/>
                </a:solidFill>
                <a:latin typeface="Calibri"/>
              </a:rPr>
              <a:t>•  </a:t>
            </a:r>
            <a:r>
              <a:rPr sz="1150">
                <a:solidFill>
                  <a:srgbClr val="1F2A37"/>
                </a:solidFill>
                <a:latin typeface="Calibri"/>
              </a:rPr>
              <a:t>Status sync.  Issue checkboxes are the truth.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150" b="1">
                <a:solidFill>
                  <a:srgbClr val="3BD4E7"/>
                </a:solidFill>
                <a:latin typeface="Calibri"/>
              </a:rPr>
              <a:t>•  </a:t>
            </a:r>
            <a:r>
              <a:rPr sz="1150">
                <a:solidFill>
                  <a:srgbClr val="1F2A37"/>
                </a:solidFill>
                <a:latin typeface="Calibri"/>
              </a:rPr>
              <a:t>Pre-merge review.  Human signs off; AI doesn't merge itself.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Hyreo Labs  ·  Internal  ·  Building with Claude.ai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828800" cy="45720"/>
          </a:xfrm>
          <a:prstGeom prst="rect">
            <a:avLst/>
          </a:prstGeom>
          <a:solidFill>
            <a:srgbClr val="3BD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20095" y="292608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1">
                <a:solidFill>
                  <a:srgbClr val="1E2A3D"/>
                </a:solidFill>
                <a:latin typeface="Calibri"/>
              </a:rPr>
              <a:t>hy</a:t>
            </a:r>
            <a:r>
              <a:rPr sz="1600" b="1">
                <a:solidFill>
                  <a:srgbClr val="3BD4E7"/>
                </a:solidFill>
                <a:latin typeface="Calibri"/>
              </a:rPr>
              <a:t>reo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3BD4E7"/>
                </a:solidFill>
                <a:latin typeface="Calibri"/>
              </a:rPr>
              <a:t>09  ·  ONBOARDING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E2A3D"/>
                </a:solidFill>
                <a:latin typeface="Calibri"/>
              </a:rPr>
              <a:t>A new developer's first month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07008"/>
            <a:ext cx="11155680" cy="9525"/>
          </a:xfrm>
          <a:prstGeom prst="rect">
            <a:avLst/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11 /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1732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What a fresh joiner does — and what they need from us — to be productive on Signature Sprint.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74519"/>
            <a:ext cx="2011680" cy="1417320"/>
          </a:xfrm>
          <a:prstGeom prst="roundRect">
            <a:avLst>
              <a:gd name="adj" fmla="val 12000"/>
            </a:avLst>
          </a:prstGeom>
          <a:solidFill>
            <a:srgbClr val="1E2A3D"/>
          </a:solidFill>
          <a:ln w="9525">
            <a:solidFill>
              <a:srgbClr val="1E2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2103119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3BD4E7"/>
                </a:solidFill>
                <a:latin typeface="Calibri"/>
              </a:rPr>
              <a:t>Day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06039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Calibri"/>
              </a:rPr>
              <a:t>Get oriented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1874519"/>
            <a:ext cx="896112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26080" y="2011679"/>
            <a:ext cx="86868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3BD4E7"/>
                </a:solidFill>
                <a:latin typeface="Calibri"/>
              </a:rPr>
              <a:t>•  </a:t>
            </a:r>
            <a:r>
              <a:rPr sz="1150">
                <a:solidFill>
                  <a:srgbClr val="1F2A37"/>
                </a:solidFill>
                <a:latin typeface="Calibri"/>
              </a:rPr>
              <a:t>Clone repo · run python -m http.server 8000 · play through both themes.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150" b="1">
                <a:solidFill>
                  <a:srgbClr val="3BD4E7"/>
                </a:solidFill>
                <a:latin typeface="Calibri"/>
              </a:rPr>
              <a:t>•  </a:t>
            </a:r>
            <a:r>
              <a:rPr sz="1150">
                <a:solidFill>
                  <a:srgbClr val="1F2A37"/>
                </a:solidFill>
                <a:latin typeface="Calibri"/>
              </a:rPr>
              <a:t>Read CLAUDE.md, README, and PRODUCT-DOC §1 (PRD).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150" b="1">
                <a:solidFill>
                  <a:srgbClr val="3BD4E7"/>
                </a:solidFill>
                <a:latin typeface="Calibri"/>
              </a:rPr>
              <a:t>•  </a:t>
            </a:r>
            <a:r>
              <a:rPr sz="1150">
                <a:solidFill>
                  <a:srgbClr val="1F2A37"/>
                </a:solidFill>
                <a:latin typeface="Calibri"/>
              </a:rPr>
              <a:t>Open the manager portal; read one report end-to-end with the Report-Reference at hand.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428999"/>
            <a:ext cx="2011680" cy="1417320"/>
          </a:xfrm>
          <a:prstGeom prst="roundRect">
            <a:avLst>
              <a:gd name="adj" fmla="val 12000"/>
            </a:avLst>
          </a:prstGeom>
          <a:solidFill>
            <a:srgbClr val="1E2A3D"/>
          </a:solidFill>
          <a:ln w="9525">
            <a:solidFill>
              <a:srgbClr val="1E2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3657599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3BD4E7"/>
                </a:solidFill>
                <a:latin typeface="Calibri"/>
              </a:rPr>
              <a:t>Week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160519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Calibri"/>
              </a:rPr>
              <a:t>Make a real change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0" y="3428999"/>
            <a:ext cx="896112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926080" y="3566159"/>
            <a:ext cx="86868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3BD4E7"/>
                </a:solidFill>
                <a:latin typeface="Calibri"/>
              </a:rPr>
              <a:t>•  </a:t>
            </a:r>
            <a:r>
              <a:rPr sz="1150">
                <a:solidFill>
                  <a:srgbClr val="1F2A37"/>
                </a:solidFill>
                <a:latin typeface="Calibri"/>
              </a:rPr>
              <a:t>Pick a Good-First-Issue from GitHub Issues.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150" b="1">
                <a:solidFill>
                  <a:srgbClr val="3BD4E7"/>
                </a:solidFill>
                <a:latin typeface="Calibri"/>
              </a:rPr>
              <a:t>•  </a:t>
            </a:r>
            <a:r>
              <a:rPr sz="1150">
                <a:solidFill>
                  <a:srgbClr val="1F2A37"/>
                </a:solidFill>
                <a:latin typeface="Calibri"/>
              </a:rPr>
              <a:t>Spin a worktree, run Claude Code in it, ship a small PR end-to-end.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150" b="1">
                <a:solidFill>
                  <a:srgbClr val="3BD4E7"/>
                </a:solidFill>
                <a:latin typeface="Calibri"/>
              </a:rPr>
              <a:t>•  </a:t>
            </a:r>
            <a:r>
              <a:rPr sz="1150">
                <a:solidFill>
                  <a:srgbClr val="1F2A37"/>
                </a:solidFill>
                <a:latin typeface="Calibri"/>
              </a:rPr>
              <a:t>Pair on one report-reading session with an evaluator on a flagged candidate.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983479"/>
            <a:ext cx="2011680" cy="1417320"/>
          </a:xfrm>
          <a:prstGeom prst="roundRect">
            <a:avLst>
              <a:gd name="adj" fmla="val 12000"/>
            </a:avLst>
          </a:prstGeom>
          <a:solidFill>
            <a:srgbClr val="1E2A3D"/>
          </a:solidFill>
          <a:ln w="9525">
            <a:solidFill>
              <a:srgbClr val="1E2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5212079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3BD4E7"/>
                </a:solidFill>
                <a:latin typeface="Calibri"/>
              </a:rPr>
              <a:t>Month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714999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Calibri"/>
              </a:rPr>
              <a:t>Own a vertical slice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0" y="4983479"/>
            <a:ext cx="896112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926080" y="5120639"/>
            <a:ext cx="86868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3BD4E7"/>
                </a:solidFill>
                <a:latin typeface="Calibri"/>
              </a:rPr>
              <a:t>•  </a:t>
            </a:r>
            <a:r>
              <a:rPr sz="1150">
                <a:solidFill>
                  <a:srgbClr val="1F2A37"/>
                </a:solidFill>
                <a:latin typeface="Calibri"/>
              </a:rPr>
              <a:t>Take an epic (e.g., new competency, persistence layer, locale pack).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150" b="1">
                <a:solidFill>
                  <a:srgbClr val="3BD4E7"/>
                </a:solidFill>
                <a:latin typeface="Calibri"/>
              </a:rPr>
              <a:t>•  </a:t>
            </a:r>
            <a:r>
              <a:rPr sz="1150">
                <a:solidFill>
                  <a:srgbClr val="1F2A37"/>
                </a:solidFill>
                <a:latin typeface="Calibri"/>
              </a:rPr>
              <a:t>Author the PRD, decompose into issues, ship issue-by-issue.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150" b="1">
                <a:solidFill>
                  <a:srgbClr val="3BD4E7"/>
                </a:solidFill>
                <a:latin typeface="Calibri"/>
              </a:rPr>
              <a:t>•  </a:t>
            </a:r>
            <a:r>
              <a:rPr sz="1150">
                <a:solidFill>
                  <a:srgbClr val="1F2A37"/>
                </a:solidFill>
                <a:latin typeface="Calibri"/>
              </a:rPr>
              <a:t>Present at the next internal review; update CLAUDE.md with anything you learned.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828800" cy="45720"/>
          </a:xfrm>
          <a:prstGeom prst="rect">
            <a:avLst/>
          </a:prstGeom>
          <a:solidFill>
            <a:srgbClr val="3BD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20095" y="292608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1">
                <a:solidFill>
                  <a:srgbClr val="1E2A3D"/>
                </a:solidFill>
                <a:latin typeface="Calibri"/>
              </a:rPr>
              <a:t>hy</a:t>
            </a:r>
            <a:r>
              <a:rPr sz="1600" b="1">
                <a:solidFill>
                  <a:srgbClr val="3BD4E7"/>
                </a:solidFill>
                <a:latin typeface="Calibri"/>
              </a:rPr>
              <a:t>reo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3BD4E7"/>
                </a:solidFill>
                <a:latin typeface="Calibri"/>
              </a:rPr>
              <a:t>10  · 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E2A3D"/>
                </a:solidFill>
                <a:latin typeface="Calibri"/>
              </a:rPr>
              <a:t>What CCPM looks like, concretely, for us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07008"/>
            <a:ext cx="11155680" cy="9525"/>
          </a:xfrm>
          <a:prstGeom prst="rect">
            <a:avLst/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12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274320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1554480"/>
            <a:ext cx="2743200" cy="457200"/>
          </a:xfrm>
          <a:prstGeom prst="rect">
            <a:avLst/>
          </a:prstGeom>
          <a:solidFill>
            <a:srgbClr val="3BD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60020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1E2A3D"/>
                </a:solidFill>
                <a:latin typeface="Calibri"/>
              </a:rPr>
              <a:t>Repo &amp; 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194560"/>
            <a:ext cx="2423160" cy="3337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3BD4E7"/>
                </a:solidFill>
                <a:latin typeface="Calibri"/>
              </a:rPr>
              <a:t>•  </a:t>
            </a:r>
            <a:r>
              <a:rPr sz="1100">
                <a:solidFill>
                  <a:srgbClr val="1F2A37"/>
                </a:solidFill>
                <a:latin typeface="Calibri"/>
              </a:rPr>
              <a:t>GitHub  —  source of truth, Issues + PRs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100" b="1">
                <a:solidFill>
                  <a:srgbClr val="3BD4E7"/>
                </a:solidFill>
                <a:latin typeface="Calibri"/>
              </a:rPr>
              <a:t>•  </a:t>
            </a:r>
            <a:r>
              <a:rPr sz="1100">
                <a:solidFill>
                  <a:srgbClr val="1F2A37"/>
                </a:solidFill>
                <a:latin typeface="Calibri"/>
              </a:rPr>
              <a:t>Branches via git worktree per issue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100" b="1">
                <a:solidFill>
                  <a:srgbClr val="3BD4E7"/>
                </a:solidFill>
                <a:latin typeface="Calibri"/>
              </a:rPr>
              <a:t>•  </a:t>
            </a:r>
            <a:r>
              <a:rPr sz="1100">
                <a:solidFill>
                  <a:srgbClr val="1F2A37"/>
                </a:solidFill>
                <a:latin typeface="Calibri"/>
              </a:rPr>
              <a:t>CLAUDE.md  —  conventions, scoring, naming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1554480"/>
            <a:ext cx="274320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29000" y="1554480"/>
            <a:ext cx="2743200" cy="457200"/>
          </a:xfrm>
          <a:prstGeom prst="rect">
            <a:avLst/>
          </a:prstGeom>
          <a:solidFill>
            <a:srgbClr val="0EA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29000" y="160020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1E2A3D"/>
                </a:solidFill>
                <a:latin typeface="Calibri"/>
              </a:rPr>
              <a:t>Claude Code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2194560"/>
            <a:ext cx="2423160" cy="3337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3BD4E7"/>
                </a:solidFill>
                <a:latin typeface="Calibri"/>
              </a:rPr>
              <a:t>•  </a:t>
            </a:r>
            <a:r>
              <a:rPr sz="1100">
                <a:solidFill>
                  <a:srgbClr val="1F2A37"/>
                </a:solidFill>
                <a:latin typeface="Calibri"/>
              </a:rPr>
              <a:t>Per-issue sub-agent in worktree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100" b="1">
                <a:solidFill>
                  <a:srgbClr val="3BD4E7"/>
                </a:solidFill>
                <a:latin typeface="Calibri"/>
              </a:rPr>
              <a:t>•  </a:t>
            </a:r>
            <a:r>
              <a:rPr sz="1100">
                <a:solidFill>
                  <a:srgbClr val="1F2A37"/>
                </a:solidFill>
                <a:latin typeface="Calibri"/>
              </a:rPr>
              <a:t>Custom slash-commands  —  /prd, /epic, /issue, /sync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100" b="1">
                <a:solidFill>
                  <a:srgbClr val="3BD4E7"/>
                </a:solidFill>
                <a:latin typeface="Calibri"/>
              </a:rPr>
              <a:t>•  </a:t>
            </a:r>
            <a:r>
              <a:rPr sz="1100">
                <a:solidFill>
                  <a:srgbClr val="1F2A37"/>
                </a:solidFill>
                <a:latin typeface="Calibri"/>
              </a:rPr>
              <a:t>Hooks  —  pre-commit format, post-task issue update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554480"/>
            <a:ext cx="274320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09360" y="1554480"/>
            <a:ext cx="2743200" cy="457200"/>
          </a:xfrm>
          <a:prstGeom prst="rect">
            <a:avLst/>
          </a:prstGeom>
          <a:solidFill>
            <a:srgbClr val="2A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09360" y="160020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1E2A3D"/>
                </a:solidFill>
                <a:latin typeface="Calibri"/>
              </a:rPr>
              <a:t>Docs &amp; specs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194560"/>
            <a:ext cx="2423160" cy="3337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3BD4E7"/>
                </a:solidFill>
                <a:latin typeface="Calibri"/>
              </a:rPr>
              <a:t>•  </a:t>
            </a:r>
            <a:r>
              <a:rPr sz="1100">
                <a:solidFill>
                  <a:srgbClr val="1F2A37"/>
                </a:solidFill>
                <a:latin typeface="Calibri"/>
              </a:rPr>
              <a:t>PRODUCT-DOC.md  —  versioned PRD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100" b="1">
                <a:solidFill>
                  <a:srgbClr val="3BD4E7"/>
                </a:solidFill>
                <a:latin typeface="Calibri"/>
              </a:rPr>
              <a:t>•  </a:t>
            </a:r>
            <a:r>
              <a:rPr sz="1100">
                <a:solidFill>
                  <a:srgbClr val="1F2A37"/>
                </a:solidFill>
                <a:latin typeface="Calibri"/>
              </a:rPr>
              <a:t>USER-GUIDE / REPORT-REFERENCE  —  user-facing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100" b="1">
                <a:solidFill>
                  <a:srgbClr val="3BD4E7"/>
                </a:solidFill>
                <a:latin typeface="Calibri"/>
              </a:rPr>
              <a:t>•  </a:t>
            </a:r>
            <a:r>
              <a:rPr sz="1100">
                <a:solidFill>
                  <a:srgbClr val="1F2A37"/>
                </a:solidFill>
                <a:latin typeface="Calibri"/>
              </a:rPr>
              <a:t>/prds &amp; /epics  —  feature-level briefs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89720" y="1554480"/>
            <a:ext cx="274320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189720" y="1554480"/>
            <a:ext cx="2743200" cy="457200"/>
          </a:xfrm>
          <a:prstGeom prst="rect">
            <a:avLst/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89720" y="160020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Quality gates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2194560"/>
            <a:ext cx="2423160" cy="3337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3BD4E7"/>
                </a:solidFill>
                <a:latin typeface="Calibri"/>
              </a:rPr>
              <a:t>•  </a:t>
            </a:r>
            <a:r>
              <a:rPr sz="1100">
                <a:solidFill>
                  <a:srgbClr val="1F2A37"/>
                </a:solidFill>
                <a:latin typeface="Calibri"/>
              </a:rPr>
              <a:t>Manual review on every PR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100" b="1">
                <a:solidFill>
                  <a:srgbClr val="3BD4E7"/>
                </a:solidFill>
                <a:latin typeface="Calibri"/>
              </a:rPr>
              <a:t>•  </a:t>
            </a:r>
            <a:r>
              <a:rPr sz="1100">
                <a:solidFill>
                  <a:srgbClr val="1F2A37"/>
                </a:solidFill>
                <a:latin typeface="Calibri"/>
              </a:rPr>
              <a:t>Print-rendered manager report check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100" b="1">
                <a:solidFill>
                  <a:srgbClr val="3BD4E7"/>
                </a:solidFill>
                <a:latin typeface="Calibri"/>
              </a:rPr>
              <a:t>•  </a:t>
            </a:r>
            <a:r>
              <a:rPr sz="1100">
                <a:solidFill>
                  <a:srgbClr val="1F2A37"/>
                </a:solidFill>
                <a:latin typeface="Calibri"/>
              </a:rPr>
              <a:t>Smoke test in both themes before merge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852160"/>
            <a:ext cx="11155680" cy="640080"/>
          </a:xfrm>
          <a:prstGeom prst="roundRect">
            <a:avLst>
              <a:gd name="adj" fmla="val 18000"/>
            </a:avLst>
          </a:prstGeom>
          <a:solidFill>
            <a:srgbClr val="E8FAFD"/>
          </a:solidFill>
          <a:ln w="9525">
            <a:solidFill>
              <a:srgbClr val="3BD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" y="5943600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1E2A3D"/>
                </a:solidFill>
                <a:latin typeface="Calibri"/>
              </a:rPr>
              <a:t>Adoption cost.  </a:t>
            </a:r>
            <a:r>
              <a:rPr sz="1200" b="0" i="0">
                <a:solidFill>
                  <a:srgbClr val="1F2A37"/>
                </a:solidFill>
                <a:latin typeface="Calibri"/>
              </a:rPr>
              <a:t>≈ 2–3 days of one-time setup (CLAUDE.md, slash-commands, agents). After that, the cost is ~5 minutes per new issue.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828800" cy="45720"/>
          </a:xfrm>
          <a:prstGeom prst="rect">
            <a:avLst/>
          </a:prstGeom>
          <a:solidFill>
            <a:srgbClr val="3BD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20095" y="292608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1">
                <a:solidFill>
                  <a:srgbClr val="1E2A3D"/>
                </a:solidFill>
                <a:latin typeface="Calibri"/>
              </a:rPr>
              <a:t>hy</a:t>
            </a:r>
            <a:r>
              <a:rPr sz="1600" b="1">
                <a:solidFill>
                  <a:srgbClr val="3BD4E7"/>
                </a:solidFill>
                <a:latin typeface="Calibri"/>
              </a:rPr>
              <a:t>reo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3BD4E7"/>
                </a:solidFill>
                <a:latin typeface="Calibri"/>
              </a:rPr>
              <a:t>11  ·  RISKS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E2A3D"/>
                </a:solidFill>
                <a:latin typeface="Calibri"/>
              </a:rPr>
              <a:t>Risks and the guardrails that contain them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07008"/>
            <a:ext cx="11155680" cy="9525"/>
          </a:xfrm>
          <a:prstGeom prst="rect">
            <a:avLst/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13 / 15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463040"/>
          <a:ext cx="111556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314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anchor="ctr">
                    <a:solidFill>
                      <a:srgbClr val="1E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Why it matters</a:t>
                      </a:r>
                    </a:p>
                  </a:txBody>
                  <a:tcPr anchor="ctr">
                    <a:solidFill>
                      <a:srgbClr val="1E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Guardrail</a:t>
                      </a:r>
                    </a:p>
                  </a:txBody>
                  <a:tcPr anchor="ctr">
                    <a:solidFill>
                      <a:srgbClr val="1E2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A37"/>
                          </a:solidFill>
                          <a:latin typeface="Calibri"/>
                        </a:rPr>
                        <a:t>AI confidently wrong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A37"/>
                          </a:solidFill>
                          <a:latin typeface="Calibri"/>
                        </a:rPr>
                        <a:t>Plausible-looking code or scoring rules that are subtly off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A37"/>
                          </a:solidFill>
                          <a:latin typeface="Calibri"/>
                        </a:rPr>
                        <a:t>Mandatory human review; tests on the scoring engine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A37"/>
                          </a:solidFill>
                          <a:latin typeface="Calibri"/>
                        </a:rPr>
                        <a:t>Context drift over long sessions</a:t>
                      </a:r>
                    </a:p>
                  </a:txBody>
                  <a:tcPr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A37"/>
                          </a:solidFill>
                          <a:latin typeface="Calibri"/>
                        </a:rPr>
                        <a:t>Decisions made early get "forgotten" later</a:t>
                      </a:r>
                    </a:p>
                  </a:txBody>
                  <a:tcPr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A37"/>
                          </a:solidFill>
                          <a:latin typeface="Calibri"/>
                        </a:rPr>
                        <a:t>Capture in PRD / CLAUDE.md, not chat history</a:t>
                      </a:r>
                    </a:p>
                  </a:txBody>
                  <a:tcPr anchor="ctr"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A37"/>
                          </a:solidFill>
                          <a:latin typeface="Calibri"/>
                        </a:rPr>
                        <a:t>Issue sprawl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A37"/>
                          </a:solidFill>
                          <a:latin typeface="Calibri"/>
                        </a:rPr>
                        <a:t>Many small issues with no epic = chaos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A37"/>
                          </a:solidFill>
                          <a:latin typeface="Calibri"/>
                        </a:rPr>
                        <a:t>Every issue links to an epic; no orphan issues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A37"/>
                          </a:solidFill>
                          <a:latin typeface="Calibri"/>
                        </a:rPr>
                        <a:t>Behavioral validity</a:t>
                      </a:r>
                    </a:p>
                  </a:txBody>
                  <a:tcPr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A37"/>
                          </a:solidFill>
                          <a:latin typeface="Calibri"/>
                        </a:rPr>
                        <a:t>Game UX should not bend assessment science</a:t>
                      </a:r>
                    </a:p>
                  </a:txBody>
                  <a:tcPr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A37"/>
                          </a:solidFill>
                          <a:latin typeface="Calibri"/>
                        </a:rPr>
                        <a:t>I/O-psych review on every new competency before launch</a:t>
                      </a:r>
                    </a:p>
                  </a:txBody>
                  <a:tcPr anchor="ctr"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A37"/>
                          </a:solidFill>
                          <a:latin typeface="Calibri"/>
                        </a:rPr>
                        <a:t>Privacy / data handling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A37"/>
                          </a:solidFill>
                          <a:latin typeface="Calibri"/>
                        </a:rPr>
                        <a:t>Real candidate data once we add a backend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A37"/>
                          </a:solidFill>
                          <a:latin typeface="Calibri"/>
                        </a:rPr>
                        <a:t>DPA + retention policy before persistence layer ships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314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A37"/>
                          </a:solidFill>
                          <a:latin typeface="Calibri"/>
                        </a:rPr>
                        <a:t>Single-engineer concentration</a:t>
                      </a:r>
                    </a:p>
                  </a:txBody>
                  <a:tcPr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A37"/>
                          </a:solidFill>
                          <a:latin typeface="Calibri"/>
                        </a:rPr>
                        <a:t>Bus factor of one</a:t>
                      </a:r>
                    </a:p>
                  </a:txBody>
                  <a:tcPr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A37"/>
                          </a:solidFill>
                          <a:latin typeface="Calibri"/>
                        </a:rPr>
                        <a:t>Onboard a second dev via the Day-1 / Week-1 / Month-1 path</a:t>
                      </a:r>
                    </a:p>
                  </a:txBody>
                  <a:tcPr anchor="ctr"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48640" y="6172200"/>
            <a:ext cx="11155680" cy="457200"/>
          </a:xfrm>
          <a:prstGeom prst="roundRect">
            <a:avLst>
              <a:gd name="adj" fmla="val 20000"/>
            </a:avLst>
          </a:prstGeom>
          <a:solidFill>
            <a:srgbClr val="1E2A3D"/>
          </a:solidFill>
          <a:ln w="9525">
            <a:solidFill>
              <a:srgbClr val="1E2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6217920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3BD4E7"/>
                </a:solidFill>
                <a:latin typeface="Calibri"/>
              </a:rPr>
              <a:t>Posture.  </a:t>
            </a:r>
            <a:r>
              <a:rPr sz="1200" b="0" i="0">
                <a:solidFill>
                  <a:srgbClr val="FFFFFF"/>
                </a:solidFill>
                <a:latin typeface="Calibri"/>
              </a:rPr>
              <a:t>AI accelerates; review decides. Speed-up doesn't change who is accountable for what ships.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828800" cy="45720"/>
          </a:xfrm>
          <a:prstGeom prst="rect">
            <a:avLst/>
          </a:prstGeom>
          <a:solidFill>
            <a:srgbClr val="3BD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20095" y="292608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1">
                <a:solidFill>
                  <a:srgbClr val="1E2A3D"/>
                </a:solidFill>
                <a:latin typeface="Calibri"/>
              </a:rPr>
              <a:t>hy</a:t>
            </a:r>
            <a:r>
              <a:rPr sz="1600" b="1">
                <a:solidFill>
                  <a:srgbClr val="3BD4E7"/>
                </a:solidFill>
                <a:latin typeface="Calibri"/>
              </a:rPr>
              <a:t>reo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3BD4E7"/>
                </a:solidFill>
                <a:latin typeface="Calibri"/>
              </a:rPr>
              <a:t>12  · 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E2A3D"/>
                </a:solidFill>
                <a:latin typeface="Calibri"/>
              </a:rPr>
              <a:t>Now · Next · Later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07008"/>
            <a:ext cx="11155680" cy="9525"/>
          </a:xfrm>
          <a:prstGeom prst="rect">
            <a:avLst/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14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365760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1463040"/>
            <a:ext cx="3657600" cy="640080"/>
          </a:xfrm>
          <a:prstGeom prst="rect">
            <a:avLst/>
          </a:prstGeom>
          <a:solidFill>
            <a:srgbClr val="3BD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1536192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E2A3D"/>
                </a:solidFill>
                <a:latin typeface="Calibri"/>
              </a:rPr>
              <a:t>NOW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82880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1">
                <a:solidFill>
                  <a:srgbClr val="1E2A3D"/>
                </a:solidFill>
                <a:latin typeface="Calibri"/>
              </a:rPr>
              <a:t>Next 2–3 weeks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31720"/>
            <a:ext cx="320040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>
                <a:solidFill>
                  <a:srgbClr val="3BD4E7"/>
                </a:solidFill>
                <a:latin typeface="Calibri"/>
              </a:rPr>
              <a:t>•  </a:t>
            </a:r>
            <a:r>
              <a:rPr sz="1150">
                <a:solidFill>
                  <a:srgbClr val="1F2A37"/>
                </a:solidFill>
                <a:latin typeface="Calibri"/>
              </a:rPr>
              <a:t>Set up CCPM scaffolding (CLAUDE.md, /prds, /epics, slash-commands).</a:t>
            </a:r>
          </a:p>
          <a:p>
            <a:pPr algn="l">
              <a:lnSpc>
                <a:spcPct val="130000"/>
              </a:lnSpc>
              <a:spcBef>
                <a:spcPts val="800"/>
              </a:spcBef>
            </a:pPr>
            <a:r>
              <a:rPr sz="1150" b="1">
                <a:solidFill>
                  <a:srgbClr val="3BD4E7"/>
                </a:solidFill>
                <a:latin typeface="Calibri"/>
              </a:rPr>
              <a:t>•  </a:t>
            </a:r>
            <a:r>
              <a:rPr sz="1150">
                <a:solidFill>
                  <a:srgbClr val="1F2A37"/>
                </a:solidFill>
                <a:latin typeface="Calibri"/>
              </a:rPr>
              <a:t>Migrate the v2.7 backlog into GitHub Issues, grouped by epic.</a:t>
            </a:r>
          </a:p>
          <a:p>
            <a:pPr algn="l">
              <a:lnSpc>
                <a:spcPct val="130000"/>
              </a:lnSpc>
              <a:spcBef>
                <a:spcPts val="800"/>
              </a:spcBef>
            </a:pPr>
            <a:r>
              <a:rPr sz="1150" b="1">
                <a:solidFill>
                  <a:srgbClr val="3BD4E7"/>
                </a:solidFill>
                <a:latin typeface="Calibri"/>
              </a:rPr>
              <a:t>•  </a:t>
            </a:r>
            <a:r>
              <a:rPr sz="1150">
                <a:solidFill>
                  <a:srgbClr val="1F2A37"/>
                </a:solidFill>
                <a:latin typeface="Calibri"/>
              </a:rPr>
              <a:t>Run one full epic end-to-end as the reference example.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463040"/>
            <a:ext cx="365760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43400" y="1463040"/>
            <a:ext cx="3657600" cy="640080"/>
          </a:xfrm>
          <a:prstGeom prst="rect">
            <a:avLst/>
          </a:prstGeom>
          <a:solidFill>
            <a:srgbClr val="0EA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0" y="1536192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E2A3D"/>
                </a:solidFill>
                <a:latin typeface="Calibri"/>
              </a:rPr>
              <a:t>NEXT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82880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1">
                <a:solidFill>
                  <a:srgbClr val="1E2A3D"/>
                </a:solidFill>
                <a:latin typeface="Calibri"/>
              </a:rPr>
              <a:t>Quarter ahead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331720"/>
            <a:ext cx="320040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>
                <a:solidFill>
                  <a:srgbClr val="3BD4E7"/>
                </a:solidFill>
                <a:latin typeface="Calibri"/>
              </a:rPr>
              <a:t>•  </a:t>
            </a:r>
            <a:r>
              <a:rPr sz="1150">
                <a:solidFill>
                  <a:srgbClr val="1F2A37"/>
                </a:solidFill>
                <a:latin typeface="Calibri"/>
              </a:rPr>
              <a:t>Ship persistence layer (Postgres + minimal REST).</a:t>
            </a:r>
          </a:p>
          <a:p>
            <a:pPr algn="l">
              <a:lnSpc>
                <a:spcPct val="130000"/>
              </a:lnSpc>
              <a:spcBef>
                <a:spcPts val="800"/>
              </a:spcBef>
            </a:pPr>
            <a:r>
              <a:rPr sz="1150" b="1">
                <a:solidFill>
                  <a:srgbClr val="3BD4E7"/>
                </a:solidFill>
                <a:latin typeface="Calibri"/>
              </a:rPr>
              <a:t>•  </a:t>
            </a:r>
            <a:r>
              <a:rPr sz="1150">
                <a:solidFill>
                  <a:srgbClr val="1F2A37"/>
                </a:solidFill>
                <a:latin typeface="Calibri"/>
              </a:rPr>
              <a:t>Add 1–2 new competencies (Collaboration · Customer Focus).</a:t>
            </a:r>
          </a:p>
          <a:p>
            <a:pPr algn="l">
              <a:lnSpc>
                <a:spcPct val="130000"/>
              </a:lnSpc>
              <a:spcBef>
                <a:spcPts val="800"/>
              </a:spcBef>
            </a:pPr>
            <a:r>
              <a:rPr sz="1150" b="1">
                <a:solidFill>
                  <a:srgbClr val="3BD4E7"/>
                </a:solidFill>
                <a:latin typeface="Calibri"/>
              </a:rPr>
              <a:t>•  </a:t>
            </a:r>
            <a:r>
              <a:rPr sz="1150">
                <a:solidFill>
                  <a:srgbClr val="1F2A37"/>
                </a:solidFill>
                <a:latin typeface="Calibri"/>
              </a:rPr>
              <a:t>Onboard a second engineer using the Day-1 / Week-1 / Month-1 path.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463040"/>
            <a:ext cx="365760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138160" y="1463040"/>
            <a:ext cx="3657600" cy="640080"/>
          </a:xfrm>
          <a:prstGeom prst="rect">
            <a:avLst/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66760" y="1536192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LATER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182880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1">
                <a:solidFill>
                  <a:srgbClr val="FFFFFF"/>
                </a:solidFill>
                <a:latin typeface="Calibri"/>
              </a:rPr>
              <a:t>Beyond this quarter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2331720"/>
            <a:ext cx="320040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>
                <a:solidFill>
                  <a:srgbClr val="3BD4E7"/>
                </a:solidFill>
                <a:latin typeface="Calibri"/>
              </a:rPr>
              <a:t>•  </a:t>
            </a:r>
            <a:r>
              <a:rPr sz="1150">
                <a:solidFill>
                  <a:srgbClr val="1F2A37"/>
                </a:solidFill>
                <a:latin typeface="Calibri"/>
              </a:rPr>
              <a:t>Multi-evaluator review with comments, shortlists, ATS export.</a:t>
            </a:r>
          </a:p>
          <a:p>
            <a:pPr algn="l">
              <a:lnSpc>
                <a:spcPct val="130000"/>
              </a:lnSpc>
              <a:spcBef>
                <a:spcPts val="800"/>
              </a:spcBef>
            </a:pPr>
            <a:r>
              <a:rPr sz="1150" b="1">
                <a:solidFill>
                  <a:srgbClr val="3BD4E7"/>
                </a:solidFill>
                <a:latin typeface="Calibri"/>
              </a:rPr>
              <a:t>•  </a:t>
            </a:r>
            <a:r>
              <a:rPr sz="1150">
                <a:solidFill>
                  <a:srgbClr val="1F2A37"/>
                </a:solidFill>
                <a:latin typeface="Calibri"/>
              </a:rPr>
              <a:t>Localized scenario packs (HI / regional).</a:t>
            </a:r>
          </a:p>
          <a:p>
            <a:pPr algn="l">
              <a:lnSpc>
                <a:spcPct val="130000"/>
              </a:lnSpc>
              <a:spcBef>
                <a:spcPts val="800"/>
              </a:spcBef>
            </a:pPr>
            <a:r>
              <a:rPr sz="1150" b="1">
                <a:solidFill>
                  <a:srgbClr val="3BD4E7"/>
                </a:solidFill>
                <a:latin typeface="Calibri"/>
              </a:rPr>
              <a:t>•  </a:t>
            </a:r>
            <a:r>
              <a:rPr sz="1150">
                <a:solidFill>
                  <a:srgbClr val="1F2A37"/>
                </a:solidFill>
                <a:latin typeface="Calibri"/>
              </a:rPr>
              <a:t>Cohort analytics + benchmarking dashboard.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Hyreo Labs  ·  Internal  ·  Building with Claude.ai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194560"/>
            <a:ext cx="12191695" cy="45720"/>
          </a:xfrm>
          <a:prstGeom prst="rect">
            <a:avLst/>
          </a:prstGeom>
          <a:solidFill>
            <a:srgbClr val="3BD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4572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600" b="1">
                <a:solidFill>
                  <a:srgbClr val="FFFFFF"/>
                </a:solidFill>
                <a:latin typeface="Calibri"/>
              </a:rPr>
              <a:t>hy</a:t>
            </a:r>
            <a:r>
              <a:rPr sz="5600" b="1">
                <a:solidFill>
                  <a:srgbClr val="3BD4E7"/>
                </a:solidFill>
                <a:latin typeface="Calibri"/>
              </a:rPr>
              <a:t>reo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C7D7EA"/>
                </a:solidFill>
                <a:latin typeface="Calibri"/>
              </a:rPr>
              <a:t>Hyreo Labs  ·  Building with Claude.ai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4320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1E2A3D"/>
                </a:solidFill>
                <a:latin typeface="Calibri"/>
              </a:rPr>
              <a:t>Speed comes from AI.
Direction comes from 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297680"/>
            <a:ext cx="3657600" cy="1463040"/>
          </a:xfrm>
          <a:prstGeom prst="roundRect">
            <a:avLst>
              <a:gd name="adj" fmla="val 6000"/>
            </a:avLst>
          </a:prstGeom>
          <a:solidFill>
            <a:srgbClr val="F5F9FC"/>
          </a:solidFill>
          <a:ln w="9525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4297680"/>
            <a:ext cx="109728" cy="1463040"/>
          </a:xfrm>
          <a:prstGeom prst="rect">
            <a:avLst/>
          </a:prstGeom>
          <a:solidFill>
            <a:srgbClr val="3BD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4462272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E2A3D"/>
                </a:solidFill>
                <a:latin typeface="Calibri"/>
              </a:rPr>
              <a:t>≈ 4–5×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16636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F2A37"/>
                </a:solidFill>
                <a:latin typeface="Calibri"/>
              </a:rPr>
              <a:t>Effort compression on this build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4297680"/>
            <a:ext cx="3657600" cy="1463040"/>
          </a:xfrm>
          <a:prstGeom prst="roundRect">
            <a:avLst>
              <a:gd name="adj" fmla="val 6000"/>
            </a:avLst>
          </a:prstGeom>
          <a:solidFill>
            <a:srgbClr val="F5F9FC"/>
          </a:solidFill>
          <a:ln w="9525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43400" y="4297680"/>
            <a:ext cx="109728" cy="1463040"/>
          </a:xfrm>
          <a:prstGeom prst="rect">
            <a:avLst/>
          </a:prstGeom>
          <a:solidFill>
            <a:srgbClr val="0EA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0" y="4462272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E2A3D"/>
                </a:solidFill>
                <a:latin typeface="Calibri"/>
              </a:rPr>
              <a:t>CCPM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516636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F2A37"/>
                </a:solidFill>
                <a:latin typeface="Calibri"/>
              </a:rPr>
              <a:t>The method we adopt going forward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4297680"/>
            <a:ext cx="3657600" cy="1463040"/>
          </a:xfrm>
          <a:prstGeom prst="roundRect">
            <a:avLst>
              <a:gd name="adj" fmla="val 6000"/>
            </a:avLst>
          </a:prstGeom>
          <a:solidFill>
            <a:srgbClr val="F5F9FC"/>
          </a:solidFill>
          <a:ln w="9525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38160" y="4297680"/>
            <a:ext cx="109728" cy="1463040"/>
          </a:xfrm>
          <a:prstGeom prst="rect">
            <a:avLst/>
          </a:prstGeom>
          <a:solidFill>
            <a:srgbClr val="2A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66760" y="4462272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E2A3D"/>
                </a:solidFill>
                <a:latin typeface="Calibri"/>
              </a:rPr>
              <a:t>Day 1 / W1 / M1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516636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F2A37"/>
                </a:solidFill>
                <a:latin typeface="Calibri"/>
              </a:rPr>
              <a:t>Onboarding path for new engineers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Calibri"/>
              </a:rPr>
              <a:t>Discussion · questions · objections welcome.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Hyreo Labs  ·  Internal  ·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2345</Words>
  <Application>Microsoft Office PowerPoint</Application>
  <PresentationFormat>Widescreen</PresentationFormat>
  <Paragraphs>327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Varun Raj</cp:lastModifiedBy>
  <cp:revision>2</cp:revision>
  <dcterms:created xsi:type="dcterms:W3CDTF">2013-01-27T09:14:16Z</dcterms:created>
  <dcterms:modified xsi:type="dcterms:W3CDTF">2026-04-27T10:47:51Z</dcterms:modified>
  <cp:category/>
</cp:coreProperties>
</file>